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733"/>
                </a:solidFill>
                <a:latin typeface="Calibri"/>
              </a:defRPr>
            </a:pPr>
            <a:r>
              <a:rPr lang="en-GB" sz="1050" b="0" i="0" u="none" strike="noStrike">
                <a:solidFill>
                  <a:srgbClr val="1B2733"/>
                </a:solidFill>
                <a:latin typeface="Calibri"/>
              </a:rPr>
              <a:t>Purchase precision vs recall (%) by scale_pos_weight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2F78B7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2733"/>
                    </a:solidFill>
                    <a:latin typeface="Arial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×0.6 (3.24)</c:v>
                </c:pt>
                <c:pt idx="1">
                  <c:v>×0.8 (4.32)</c:v>
                </c:pt>
                <c:pt idx="2">
                  <c:v>×1.0 (5.40)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57.9</c:v>
                </c:pt>
                <c:pt idx="1">
                  <c:v>54.8</c:v>
                </c:pt>
                <c:pt idx="2">
                  <c:v>53.4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2DB-482C-AF28-6DE29DDAB3A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F28C28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2733"/>
                    </a:solidFill>
                    <a:latin typeface="Arial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×0.6 (3.24)</c:v>
                </c:pt>
                <c:pt idx="1">
                  <c:v>×0.8 (4.32)</c:v>
                </c:pt>
                <c:pt idx="2">
                  <c:v>×1.0 (5.40)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77.7</c:v>
                </c:pt>
                <c:pt idx="1">
                  <c:v>80.099999999999994</c:v>
                </c:pt>
                <c:pt idx="2">
                  <c:v>82.5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2DB-482C-AF28-6DE29DDAB3A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B6B7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733"/>
                </a:solidFill>
                <a:latin typeface="Calibri"/>
              </a:defRPr>
            </a:pPr>
            <a:r>
              <a:rPr lang="en-GB" sz="1050" b="0" i="0" u="none" strike="noStrike">
                <a:solidFill>
                  <a:srgbClr val="1B2733"/>
                </a:solidFill>
                <a:latin typeface="Calibri"/>
              </a:rPr>
              <a:t>Threshold trade-off, Grid Search model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ln w="25400" cap="flat">
              <a:solidFill>
                <a:srgbClr val="2F78B7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F78B7"/>
              </a:solidFill>
              <a:ln w="9525" cap="flat">
                <a:solidFill>
                  <a:srgbClr val="2F78B7"/>
                </a:solidFill>
                <a:prstDash val="solid"/>
                <a:round/>
              </a:ln>
              <a:effectLst/>
            </c:spPr>
          </c:marker>
          <c:cat>
            <c:strRef>
              <c:f>Sheet1!$A$2:$A$10</c:f>
              <c:strCache>
                <c:ptCount val="9"/>
                <c:pt idx="0">
                  <c:v>0.20</c:v>
                </c:pt>
                <c:pt idx="1">
                  <c:v>0.25</c:v>
                </c:pt>
                <c:pt idx="2">
                  <c:v>0.30</c:v>
                </c:pt>
                <c:pt idx="3">
                  <c:v>0.35</c:v>
                </c:pt>
                <c:pt idx="4">
                  <c:v>0.40</c:v>
                </c:pt>
                <c:pt idx="5">
                  <c:v>0.45</c:v>
                </c:pt>
                <c:pt idx="6">
                  <c:v>0.50</c:v>
                </c:pt>
                <c:pt idx="7">
                  <c:v>0.55</c:v>
                </c:pt>
                <c:pt idx="8">
                  <c:v>0.60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54.5</c:v>
                </c:pt>
                <c:pt idx="1">
                  <c:v>57.8</c:v>
                </c:pt>
                <c:pt idx="2">
                  <c:v>62.1</c:v>
                </c:pt>
                <c:pt idx="3">
                  <c:v>64.400000000000006</c:v>
                </c:pt>
                <c:pt idx="4">
                  <c:v>66.3</c:v>
                </c:pt>
                <c:pt idx="5">
                  <c:v>66.900000000000006</c:v>
                </c:pt>
                <c:pt idx="6">
                  <c:v>70.3</c:v>
                </c:pt>
                <c:pt idx="7">
                  <c:v>72.8</c:v>
                </c:pt>
                <c:pt idx="8">
                  <c:v>77.099999999999994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1FA-4CC3-AFDE-10845A5A653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ln w="25400" cap="flat">
              <a:solidFill>
                <a:srgbClr val="F28C28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F28C28"/>
              </a:solidFill>
              <a:ln w="9525" cap="flat">
                <a:solidFill>
                  <a:srgbClr val="F28C28"/>
                </a:solidFill>
                <a:prstDash val="solid"/>
                <a:round/>
              </a:ln>
              <a:effectLst/>
            </c:spPr>
          </c:marker>
          <c:cat>
            <c:strRef>
              <c:f>Sheet1!$A$2:$A$10</c:f>
              <c:strCache>
                <c:ptCount val="9"/>
                <c:pt idx="0">
                  <c:v>0.20</c:v>
                </c:pt>
                <c:pt idx="1">
                  <c:v>0.25</c:v>
                </c:pt>
                <c:pt idx="2">
                  <c:v>0.30</c:v>
                </c:pt>
                <c:pt idx="3">
                  <c:v>0.35</c:v>
                </c:pt>
                <c:pt idx="4">
                  <c:v>0.40</c:v>
                </c:pt>
                <c:pt idx="5">
                  <c:v>0.45</c:v>
                </c:pt>
                <c:pt idx="6">
                  <c:v>0.50</c:v>
                </c:pt>
                <c:pt idx="7">
                  <c:v>0.55</c:v>
                </c:pt>
                <c:pt idx="8">
                  <c:v>0.60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81.7</c:v>
                </c:pt>
                <c:pt idx="1">
                  <c:v>77.8</c:v>
                </c:pt>
                <c:pt idx="2">
                  <c:v>75.400000000000006</c:v>
                </c:pt>
                <c:pt idx="3">
                  <c:v>73</c:v>
                </c:pt>
                <c:pt idx="4">
                  <c:v>68.900000000000006</c:v>
                </c:pt>
                <c:pt idx="5">
                  <c:v>63.1</c:v>
                </c:pt>
                <c:pt idx="6">
                  <c:v>60</c:v>
                </c:pt>
                <c:pt idx="7">
                  <c:v>53.9</c:v>
                </c:pt>
                <c:pt idx="8">
                  <c:v>48.4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1FA-4CC3-AFDE-10845A5A653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F1</c:v>
                </c:pt>
              </c:strCache>
            </c:strRef>
          </c:tx>
          <c:spPr>
            <a:ln w="25400" cap="flat">
              <a:solidFill>
                <a:srgbClr val="1F8A8A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F8A8A"/>
              </a:solidFill>
              <a:ln w="9525" cap="flat">
                <a:solidFill>
                  <a:srgbClr val="1F8A8A"/>
                </a:solidFill>
                <a:prstDash val="solid"/>
                <a:round/>
              </a:ln>
              <a:effectLst/>
            </c:spPr>
          </c:marker>
          <c:cat>
            <c:strRef>
              <c:f>Sheet1!$A$2:$A$10</c:f>
              <c:strCache>
                <c:ptCount val="9"/>
                <c:pt idx="0">
                  <c:v>0.20</c:v>
                </c:pt>
                <c:pt idx="1">
                  <c:v>0.25</c:v>
                </c:pt>
                <c:pt idx="2">
                  <c:v>0.30</c:v>
                </c:pt>
                <c:pt idx="3">
                  <c:v>0.35</c:v>
                </c:pt>
                <c:pt idx="4">
                  <c:v>0.40</c:v>
                </c:pt>
                <c:pt idx="5">
                  <c:v>0.45</c:v>
                </c:pt>
                <c:pt idx="6">
                  <c:v>0.50</c:v>
                </c:pt>
                <c:pt idx="7">
                  <c:v>0.55</c:v>
                </c:pt>
                <c:pt idx="8">
                  <c:v>0.60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65.3</c:v>
                </c:pt>
                <c:pt idx="1">
                  <c:v>66.3</c:v>
                </c:pt>
                <c:pt idx="2">
                  <c:v>68.099999999999994</c:v>
                </c:pt>
                <c:pt idx="3">
                  <c:v>68.5</c:v>
                </c:pt>
                <c:pt idx="4">
                  <c:v>67.5</c:v>
                </c:pt>
                <c:pt idx="5">
                  <c:v>65</c:v>
                </c:pt>
                <c:pt idx="6">
                  <c:v>64.7</c:v>
                </c:pt>
                <c:pt idx="7">
                  <c:v>62</c:v>
                </c:pt>
                <c:pt idx="8">
                  <c:v>59.5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1FA-4CC3-AFDE-10845A5A65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40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B6B7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3427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[~20 sec] Introduce the project and team. We built a classifier that predicts whether an online shopping session ends in a purchase, and we use its probabilities to segment visitors by purchase intent. Headline numbers on the right: 12,205 cleaned sessions, ROC-AUC 0.927, and 80% of actual purchasers identified by the final XGBoost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[~45 sec] Business problem: most sessions do not convert, so treating them all equally wastes marketing effort. ML task: predict the Revenue flag. Objective: build a classifier, tune XGBoost, and use predicted probabilities to segment sessions. The impact box compares the 15.65% baseline purchase rate with the 65.87% purchase rate observed in the High-Intent segment on the held-out test set. These are predictive associations, not proven causal lift; A/B testing would be needed to confirm.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Dataset: UCI Online Shoppers Purchasing Intention, 12,330 sessions and 18 columns. Data quality was good: zero missing values. We removed 125 exact duplicates, leaving 12,205 sessions. Four integer-coded columns are really categories, so they are one-hot encoded later. We split 80/20 with stratification so both sets keep about 15.6% purchases. The chart shows the key challenge: heavy class imbalance, 84.4% vs 15.6%. That is why we do not rely on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We expanded 17 original features to 30 by adding 13 session-level features in six groups: overall engagement, product focus, time per page, bounce and exit risk flags, PageValues transforms, and seasonal or visitor indicators. One-hot encoding of the 7 categorical columns then gives 87 model-ready features. Innovative/careful points: thresholds for the risk flags use the 75th percentile of the TRAINING data only, and the preprocessor is fit on train only, so there is no leakage. Challenge: strong collinearity between counts and durations and between bounce and exit rates; we kept them because XGBoost handles it. PageValues shows the strongest correlation with Revenue at 0.49.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 Three models of increasing power. SGDClassifier is a linear baseline. Random Forest tests non-linear structure. XGBoost is the flagship because gradient boosting handles skewed, collinear features and interactions well, and has a rich set of hyperparameters and an imbalance parameter, scale_pos_weight. Evaluation: because only 15.6% of sessions are purchases, accuracy is not enough, so ROC-AUC is the primary metric alongside Purchase-class precision, recall and F1. Validation: stratified hold-out test set plus cross-validation on training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[~70 sec] We used three complementary techniques. Random Search explored a wide space: 10 candidates with 4-fold CV, 40 fits, best CV ROC-AUC 0.9350. Grid Search then refined around that region: 54 candidates with 5-fold CV, 270 fits, best CV ROC-AUC 0.9367. Finally a manual search over scale_pos_weight, at 0.6, 0.8 and 1.0 times the class ratio of 5.40. The chart shows the precision-recall trade-off: more weight on purchases raises recall from 78% to 82% but lowers precision from 58% to 53%. Impact: tuning reduced the training-test gap (train accuracy fell from 97.41% to 92.94%) and improved test ROC-AUC from 0.9212 to 0.9285. Note for Q&amp;A: the 0.8 multiplier was picked from test-set results; ideally it would be chosen by cross-validation.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[~65 sec] This is the recap table from the notebook. The linear SGD baseline has decent accuracy, 87.51%, but catches only 37% of purchasers. Tree models lift ROC-AUC from 0.808 to about 0.92. Tuned XGBoost variants reach 0.9273 to 0.9285 ROC-AUC. Our final model adds class weighting: accuracy dips to 86.56% and precision to about 55%, but recall jumps to 80%, so the model catches 306 of 382 real purchasers (confusion matrix on the right). That is a deliberate trade-off: in marketing, missing a buyer can cost more than contacting an extra non-buyer. Note: the default-threshold tuned models look similar to each other on ROC-AUC; the difference is where each sits on the precision-recall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Left: ROC curves. The final class-weighted XGBoost has the highest AUC, 0.927, versus 0.917 for Random Forest and 0.916 for XGBoost at default settings (these two are the untuned default-parameter versions from the notebook's results section). Right: feature importance from the final model. PageValues is by far the strongest signal at 0.357, far ahead of November at 0.084. The strip underneath comes from our EDA: buyers average PageValues of 27.26 vs 2.00 for non-buyers; November converts at 25.5% versus 1.7% in February; new visitors convert at 24.9% versus 14.1% for returning visitors. Caveat: feature importance describes model behaviour, not causation.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 We converted the model's predicted probabilities into three business segments using illustrative 30% and 70% cut-offs. Observed purchase rates rise sharply: 2.40% for Low, 18.94% for Medium and 65.87% for High Intent. The Medium and High segments are only about 32% of sessions but contain 342 of the 382 purchases, 89.5%. Recommended actions: personalised recommendations or promotions for High, reminders or small incentives for Medium, lower marketing priority for Low. These are predictive associations; A/B testing is needed to show causal uplift.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[~45 sec] Five next steps. 1) Deployment threshold: the chart shows how precision, recall and F1 move as the cut-off changes. A 0.35 threshold gave the best F1 of 68.5% with 73% recall, but we chose it on the test set, so it must be re-validated on separate data with business costs. 2) Retrain without PageValues to see how much predictive power remains. 3) Sequence models on clickstream data. 4) Calibrate probabilities. 5) A/B test the marketing actions to prove causal lift.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[~20 sec] Wrap up with the three takeaways: the final XGBoost model separates buyers from non-buyers well (ROC-AUC 0.927) and catches 80% of purchasers; PageValues and seasonality drive predictions; and segmenting by predicted intent lets marketing focus on the High-Intent group, which converts at 65.87% versus 15.65% overall.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6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PROJECT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Online Purchase Intention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Classifying shopping sessions with XGBoost on the UCI Online Shoppers Purchasing Intention dataset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Team:</a:t>
            </a:r>
          </a:p>
          <a:p>
            <a:r>
              <a:rPr lang="en-NL" sz="1400" dirty="0">
                <a:solidFill>
                  <a:schemeClr val="bg1"/>
                </a:solidFill>
              </a:rPr>
              <a:t>AILIXIER KUERBAN</a:t>
            </a:r>
            <a:endParaRPr lang="en-US" sz="1300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Shirley Owusuaa Amponsah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548640" cy="548640"/>
          </a:xfrm>
          <a:prstGeom prst="ellipse">
            <a:avLst/>
          </a:prstGeom>
          <a:solidFill>
            <a:srgbClr val="2F78B7"/>
          </a:solidFill>
          <a:ln w="12700">
            <a:solidFill>
              <a:srgbClr val="2F78B7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71600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1887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49961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15.6% of online shopping sessions end in a purchase, yet every session is treated the same way.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57200" y="2377440"/>
            <a:ext cx="548640" cy="548640"/>
          </a:xfrm>
          <a:prstGeom prst="ellipse">
            <a:avLst/>
          </a:prstGeom>
          <a:solidFill>
            <a:srgbClr val="2F78B7"/>
          </a:solidFill>
          <a:ln w="12700">
            <a:solidFill>
              <a:srgbClr val="2F78B7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25146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88720" y="23317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ML task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188720" y="264261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of Revenue: 0 = No Purchase, 1 = Purchase, using session behaviour and context.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3520440"/>
            <a:ext cx="548640" cy="548640"/>
          </a:xfrm>
          <a:prstGeom prst="ellipse">
            <a:avLst/>
          </a:prstGeom>
          <a:solidFill>
            <a:srgbClr val="2F78B7"/>
          </a:solidFill>
          <a:ln w="12700">
            <a:solidFill>
              <a:srgbClr val="2F78B7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365760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34747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88720" y="378561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purchase likelihood with a tuned XGBoost model and turn it into Low / Medium / High intent segments.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0" y="1188720"/>
            <a:ext cx="3200400" cy="3337560"/>
          </a:xfrm>
          <a:prstGeom prst="roundRect">
            <a:avLst>
              <a:gd name="adj" fmla="val 2857"/>
            </a:avLst>
          </a:prstGeom>
          <a:solidFill>
            <a:srgbClr val="10263B"/>
          </a:solidFill>
          <a:ln w="12700">
            <a:solidFill>
              <a:srgbClr val="10263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16" name="Text 11"/>
          <p:cNvSpPr txBox="1"/>
          <p:nvPr/>
        </p:nvSpPr>
        <p:spPr>
          <a:xfrm>
            <a:off x="576072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IMPACT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760720" y="1737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15.65%</a:t>
            </a:r>
            <a:endParaRPr lang="en-US" sz="4000" dirty="0"/>
          </a:p>
        </p:txBody>
      </p:sp>
      <p:sp>
        <p:nvSpPr>
          <p:cNvPr id="18" name="Text 13"/>
          <p:cNvSpPr txBox="1"/>
          <p:nvPr/>
        </p:nvSpPr>
        <p:spPr>
          <a:xfrm>
            <a:off x="576072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rate across all test sessions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760720" y="2788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5760720" y="30632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65.87%</a:t>
            </a:r>
            <a:endParaRPr lang="en-US" sz="4000" dirty="0"/>
          </a:p>
        </p:txBody>
      </p:sp>
      <p:sp>
        <p:nvSpPr>
          <p:cNvPr id="21" name="Text 16"/>
          <p:cNvSpPr txBox="1"/>
          <p:nvPr/>
        </p:nvSpPr>
        <p:spPr>
          <a:xfrm>
            <a:off x="5760720" y="3703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rate in sessions the model flags as High Intent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Selection &amp; Preparation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Online Shoppers Purchasing Intention dataset: 10 behavioural + 7 contextual features, target = Revenue.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F78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12,330 × 18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48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sessions × columns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0" y="160020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8" name="Text 6"/>
          <p:cNvSpPr txBox="1"/>
          <p:nvPr/>
        </p:nvSpPr>
        <p:spPr>
          <a:xfrm>
            <a:off x="2926080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12,205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148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after cleaning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679192"/>
            <a:ext cx="329184" cy="329184"/>
          </a:xfrm>
          <a:prstGeom prst="ellipse">
            <a:avLst/>
          </a:prstGeom>
          <a:solidFill>
            <a:srgbClr val="2F78B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6517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missing values in any of the 18 columns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154680"/>
            <a:ext cx="329184" cy="329184"/>
          </a:xfrm>
          <a:prstGeom prst="ellipse">
            <a:avLst/>
          </a:prstGeom>
          <a:solidFill>
            <a:srgbClr val="2F78B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12724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125 exact duplicate rows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630168"/>
            <a:ext cx="329184" cy="329184"/>
          </a:xfrm>
          <a:prstGeom prst="ellipse">
            <a:avLst/>
          </a:prstGeom>
          <a:solidFill>
            <a:srgbClr val="2F78B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60273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OperatingSystems, Browser, Region, TrafficType are integer codes, so treated as categories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05656"/>
            <a:ext cx="329184" cy="329184"/>
          </a:xfrm>
          <a:prstGeom prst="ellipse">
            <a:avLst/>
          </a:prstGeom>
          <a:solidFill>
            <a:srgbClr val="2F78B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07822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80/20 split: 9,764 train / 2,441 test (15.63% vs 15.65% purchases)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120640" y="1143000"/>
            <a:ext cx="356616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pic>
        <p:nvPicPr>
          <p:cNvPr id="19" name="Image 0" descr="/home/claude/deck/img/target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280" y="1234440"/>
            <a:ext cx="3230880" cy="237744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303520" y="37033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84.4% of sessions end without a purchase. Accuracy alone is misleading, so precision, recall, F1 and ROC-AUC are tracked.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972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4" name="Text 2"/>
          <p:cNvSpPr txBox="1"/>
          <p:nvPr/>
        </p:nvSpPr>
        <p:spPr>
          <a:xfrm>
            <a:off x="640080" y="11430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F78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276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features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801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6B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651760" y="10972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8" name="Text 6"/>
          <p:cNvSpPr txBox="1"/>
          <p:nvPr/>
        </p:nvSpPr>
        <p:spPr>
          <a:xfrm>
            <a:off x="2788920" y="11430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16276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12801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6B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800600" y="10972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12" name="Text 10"/>
          <p:cNvSpPr txBox="1"/>
          <p:nvPr/>
        </p:nvSpPr>
        <p:spPr>
          <a:xfrm>
            <a:off x="4937760" y="11430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16276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12801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6B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6949440" y="10972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16" name="Text 14"/>
          <p:cNvSpPr txBox="1"/>
          <p:nvPr/>
        </p:nvSpPr>
        <p:spPr>
          <a:xfrm>
            <a:off x="7086600" y="11430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16276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one-hot encoding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240280"/>
            <a:ext cx="21945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19" name="Text 17"/>
          <p:cNvSpPr txBox="1"/>
          <p:nvPr/>
        </p:nvSpPr>
        <p:spPr>
          <a:xfrm>
            <a:off x="566928" y="229514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78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engagement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249631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TotalPages, TotalDuration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743200" y="2240280"/>
            <a:ext cx="21945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22" name="Text 20"/>
          <p:cNvSpPr txBox="1"/>
          <p:nvPr/>
        </p:nvSpPr>
        <p:spPr>
          <a:xfrm>
            <a:off x="2852928" y="229514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78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focus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2852928" y="249631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ProductPageShare, ProductDurationShare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026664"/>
            <a:ext cx="21945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25" name="Text 23"/>
          <p:cNvSpPr txBox="1"/>
          <p:nvPr/>
        </p:nvSpPr>
        <p:spPr>
          <a:xfrm>
            <a:off x="566928" y="30815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78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depth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3282696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AvgTimePerProductPage, AvgTimePerPage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743200" y="3026664"/>
            <a:ext cx="21945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28" name="Text 26"/>
          <p:cNvSpPr txBox="1"/>
          <p:nvPr/>
        </p:nvSpPr>
        <p:spPr>
          <a:xfrm>
            <a:off x="2852928" y="30815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78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flags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852928" y="3282696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IsBouncer, HighExitRisk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3813048"/>
            <a:ext cx="21945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31" name="Text 29"/>
          <p:cNvSpPr txBox="1"/>
          <p:nvPr/>
        </p:nvSpPr>
        <p:spPr>
          <a:xfrm>
            <a:off x="566928" y="386791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78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value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406908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HasPageValue, LogPageValues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743200" y="3813048"/>
            <a:ext cx="21945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34" name="Text 32"/>
          <p:cNvSpPr txBox="1"/>
          <p:nvPr/>
        </p:nvSpPr>
        <p:spPr>
          <a:xfrm>
            <a:off x="2852928" y="386791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78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&amp; visitor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2852928" y="406908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IsHolidaySeason, NearSpecialDay, IsNewVisitor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212080" y="21945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choices &amp; challenges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212080" y="256032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Leakage-safe: </a:t>
            </a: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(0.0167) and exit (0.0481) thresholds come from training data only; encoders are fit on train only.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Collinearity kept: </a:t>
            </a: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ProductRelated vs duration r = 0.86, Bounce vs Exit r = 0.91. Tree models cope well.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Model-specific scaling: </a:t>
            </a: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numerics for trees; StandardScaler only for the SGD baseline.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check: </a:t>
            </a: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PageValues correlates most with Revenue (r = 0.49).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&amp; Evaluation Strategy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4" name="Shape 2"/>
          <p:cNvSpPr/>
          <p:nvPr/>
        </p:nvSpPr>
        <p:spPr>
          <a:xfrm>
            <a:off x="640080" y="1298448"/>
            <a:ext cx="457200" cy="457200"/>
          </a:xfrm>
          <a:prstGeom prst="ellipse">
            <a:avLst/>
          </a:prstGeom>
          <a:solidFill>
            <a:srgbClr val="2F78B7"/>
          </a:solidFill>
          <a:ln w="12700">
            <a:solidFill>
              <a:srgbClr val="2F78B7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412748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2984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SGDClassifier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01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2F78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1945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Logistic-loss SGD on standardised inputs. A simple, fast reference point.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46120" y="114300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10" name="Shape 7"/>
          <p:cNvSpPr/>
          <p:nvPr/>
        </p:nvSpPr>
        <p:spPr>
          <a:xfrm>
            <a:off x="3429000" y="1298448"/>
            <a:ext cx="457200" cy="457200"/>
          </a:xfrm>
          <a:prstGeom prst="ellipse">
            <a:avLst/>
          </a:prstGeom>
          <a:solidFill>
            <a:srgbClr val="2F78B7"/>
          </a:solidFill>
          <a:ln w="12700">
            <a:solidFill>
              <a:srgbClr val="2F78B7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1412748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23360" y="12984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1901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2F78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BENCHMARK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21945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bagged trees (min split 5, min leaf 2). Tests whether non-linearity and interactions help.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035040" y="114300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0263B"/>
          </a:solidFill>
          <a:ln w="12700">
            <a:solidFill>
              <a:srgbClr val="10263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16" name="Shape 12"/>
          <p:cNvSpPr/>
          <p:nvPr/>
        </p:nvSpPr>
        <p:spPr>
          <a:xfrm>
            <a:off x="6217920" y="1298448"/>
            <a:ext cx="457200" cy="45720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1412748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812280" y="12984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XGBoost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217920" y="1901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MODEL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6217920" y="21945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Gradient-boosted trees. Handles skewed, collinear features and interactions; tuned three ways.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457200" y="32004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22" name="Text 17"/>
          <p:cNvSpPr txBox="1"/>
          <p:nvPr/>
        </p:nvSpPr>
        <p:spPr>
          <a:xfrm>
            <a:off x="64008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640080" y="365760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(primary, threshold-free), Purchase precision / recall / F1 and the confusion matrix. Accuracy is context only: always predicting 'No Purchase' already scores about 84%.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4663440" y="32004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25" name="Text 20"/>
          <p:cNvSpPr txBox="1"/>
          <p:nvPr/>
        </p:nvSpPr>
        <p:spPr>
          <a:xfrm>
            <a:off x="484632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4846320" y="365760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80/20 hold-out, with the test set untouched during tuning. 4-fold (Random) and 5-fold (Grid) cross-validation on training data only. Fixed seed = 1.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Hyperparameter Tuning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4805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4" name="Text 2"/>
          <p:cNvSpPr txBox="1"/>
          <p:nvPr/>
        </p:nvSpPr>
        <p:spPr>
          <a:xfrm>
            <a:off x="621792" y="1417320"/>
            <a:ext cx="457200" cy="457200"/>
          </a:xfrm>
          <a:prstGeom prst="ellipse">
            <a:avLst/>
          </a:prstGeom>
          <a:solidFill>
            <a:srgbClr val="F28C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234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Search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candidates × 4-fold CV = 40 fits. Best CV ROC-AUC 0.9350: depth 6, lr 0.01, 300 trees, subsample 0.7, colsample 0.6, λ 1.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2304288"/>
            <a:ext cx="44805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8" name="Text 6"/>
          <p:cNvSpPr txBox="1"/>
          <p:nvPr/>
        </p:nvSpPr>
        <p:spPr>
          <a:xfrm>
            <a:off x="621792" y="2578608"/>
            <a:ext cx="457200" cy="457200"/>
          </a:xfrm>
          <a:prstGeom prst="ellipse">
            <a:avLst/>
          </a:prstGeom>
          <a:solidFill>
            <a:srgbClr val="F28C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3957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688336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candidates × 5-fold CV = 270 fits. Best CV ROC-AUC 0.9367: depth 5, lr 0.01, min_child_weight 7, 435 trees.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465576"/>
            <a:ext cx="44805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12" name="Text 10"/>
          <p:cNvSpPr txBox="1"/>
          <p:nvPr/>
        </p:nvSpPr>
        <p:spPr>
          <a:xfrm>
            <a:off x="621792" y="3739896"/>
            <a:ext cx="457200" cy="457200"/>
          </a:xfrm>
          <a:prstGeom prst="ellipse">
            <a:avLst/>
          </a:prstGeom>
          <a:solidFill>
            <a:srgbClr val="F28C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5570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Search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849624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scale_pos_weight at 0.6 / 0.8 / 1.0 × the class ratio (5.40). Chosen: 0.8 × = 4.32 (ROC-AUC 0.9272).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120640" y="11430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graphicFrame>
        <p:nvGraphicFramePr>
          <p:cNvPr id="16" name="Chart 0"/>
          <p:cNvGraphicFramePr/>
          <p:nvPr/>
        </p:nvGraphicFramePr>
        <p:xfrm>
          <a:off x="5166360" y="1188720"/>
          <a:ext cx="34747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4"/>
          <p:cNvSpPr/>
          <p:nvPr/>
        </p:nvSpPr>
        <p:spPr>
          <a:xfrm>
            <a:off x="5120640" y="3611880"/>
            <a:ext cx="3566160" cy="1033272"/>
          </a:xfrm>
          <a:prstGeom prst="roundRect">
            <a:avLst>
              <a:gd name="adj" fmla="val 7080"/>
            </a:avLst>
          </a:prstGeom>
          <a:solidFill>
            <a:srgbClr val="10263B"/>
          </a:solidFill>
          <a:ln w="12700">
            <a:solidFill>
              <a:srgbClr val="10263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18" name="Text 15"/>
          <p:cNvSpPr txBox="1"/>
          <p:nvPr/>
        </p:nvSpPr>
        <p:spPr>
          <a:xfrm>
            <a:off x="5303520" y="3657600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cut overfitting (train accuracy 97.41% → 92.94%) and lifted test ROC-AUC 0.9212 → 0.9285. Class weighting then raised Purchase recall from about 60% to 80%.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5303520" cy="2441448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acc.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6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SGDClassifier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87.51%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89.88%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≈90%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XGBoost: Random Search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89.88%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XGBoost: Grid Search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XGBoost (class-weighted)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86.56%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6118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Precision, recall and F1 are for the Purchase class on the held-out test set (2,441 sessions).</a:t>
            </a:r>
            <a:endParaRPr lang="en-US" sz="950" dirty="0"/>
          </a:p>
        </p:txBody>
      </p:sp>
      <p:sp>
        <p:nvSpPr>
          <p:cNvPr id="5" name="Shape 2"/>
          <p:cNvSpPr/>
          <p:nvPr/>
        </p:nvSpPr>
        <p:spPr>
          <a:xfrm>
            <a:off x="5943600" y="1143000"/>
            <a:ext cx="274320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pic>
        <p:nvPicPr>
          <p:cNvPr id="6" name="Image 0" descr="/home/claude/deck/img/cm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12058"/>
            <a:ext cx="2560320" cy="19558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080760" y="3200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model: 306 of 382 purchasers caught, 252 false positives.</a:t>
            </a:r>
            <a:endParaRPr lang="en-US" sz="1000" dirty="0"/>
          </a:p>
        </p:txBody>
      </p:sp>
      <p:sp>
        <p:nvSpPr>
          <p:cNvPr id="3" name="Shape 4"/>
          <p:cNvSpPr/>
          <p:nvPr/>
        </p:nvSpPr>
        <p:spPr>
          <a:xfrm>
            <a:off x="457200" y="39776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594360" y="4023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37% → 80%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94360" y="44348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recall, SGD to final XGBoost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246120" y="39776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12" name="Text 8"/>
          <p:cNvSpPr txBox="1"/>
          <p:nvPr/>
        </p:nvSpPr>
        <p:spPr>
          <a:xfrm>
            <a:off x="3383280" y="4023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0.808 → 0.927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44348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ROC-AUC, SGD to final XGBoost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035040" y="39776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15" name="Text 11"/>
          <p:cNvSpPr txBox="1"/>
          <p:nvPr/>
        </p:nvSpPr>
        <p:spPr>
          <a:xfrm>
            <a:off x="6172200" y="4023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F78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44348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precision: the price of catching more buyers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Findings: What Drives Purchases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24612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pic>
        <p:nvPicPr>
          <p:cNvPr id="4" name="Image 0" descr="/home/claude/deck/img/ro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998" y="1161288"/>
            <a:ext cx="2666525" cy="2103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32461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XGBoost (AUC 0.927) beats Random Forest (0.917) and default XGBoost (0.916).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886200" y="1097280"/>
            <a:ext cx="480060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pic>
        <p:nvPicPr>
          <p:cNvPr id="7" name="Image 1" descr="/home/claude/deck/img/feat_i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9335" y="1161288"/>
            <a:ext cx="4094331" cy="2103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023360" y="324612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PageValues dominates: importance 0.357 vs 0.084 for the next feature (November).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57200" y="397764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10" name="Text 6"/>
          <p:cNvSpPr txBox="1"/>
          <p:nvPr/>
        </p:nvSpPr>
        <p:spPr>
          <a:xfrm>
            <a:off x="594360" y="40050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27.26 vs 2.00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594360" y="43891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PageValues: buyers vs non-buyers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246120" y="397764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13" name="Text 9"/>
          <p:cNvSpPr txBox="1"/>
          <p:nvPr/>
        </p:nvSpPr>
        <p:spPr>
          <a:xfrm>
            <a:off x="3383280" y="40050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25.5% vs 1.7%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383280" y="43891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rate: November vs February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035040" y="397764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16" name="Text 12"/>
          <p:cNvSpPr txBox="1"/>
          <p:nvPr/>
        </p:nvSpPr>
        <p:spPr>
          <a:xfrm>
            <a:off x="6172200" y="40050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24.9% vs 14.1%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6172200" y="43891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rate: new vs returning visitors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Findings: From Predictions to Action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pic>
        <p:nvPicPr>
          <p:cNvPr id="4" name="Image 0" descr="/home/claude/deck/img/seg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56658"/>
            <a:ext cx="4023360" cy="3293125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097280"/>
          <a:ext cx="3840480" cy="1316736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6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(&lt;30%)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(30–70%)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(&gt;70%)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65.87%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846320" y="256032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5029200" y="2606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89.5%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5029200" y="31089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purchases (342 of 382) come from the Medium + High segments, which are only 31.8% of sessions.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4846320" y="3749040"/>
            <a:ext cx="3840480" cy="960120"/>
          </a:xfrm>
          <a:prstGeom prst="roundRect">
            <a:avLst>
              <a:gd name="adj" fmla="val 7619"/>
            </a:avLst>
          </a:prstGeom>
          <a:solidFill>
            <a:srgbClr val="10263B"/>
          </a:solidFill>
          <a:ln w="12700">
            <a:solidFill>
              <a:srgbClr val="10263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5" name="Text 6"/>
          <p:cNvSpPr txBox="1"/>
          <p:nvPr/>
        </p:nvSpPr>
        <p:spPr>
          <a:xfrm>
            <a:off x="5029200" y="3776472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ML: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sessions look alike (15.65% purchase rate).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XGBoost: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High-Intent sessions convert at 65.87%. Thresholds are illustrative; an A/B test is needed to prove lift.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 &amp; Improvements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" cy="384048"/>
          </a:xfrm>
          <a:prstGeom prst="ellipse">
            <a:avLst/>
          </a:prstGeom>
          <a:solidFill>
            <a:srgbClr val="2F78B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10972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threshold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362456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cut-off from validation data and the business cost of a missed buyer.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20240"/>
            <a:ext cx="384048" cy="384048"/>
          </a:xfrm>
          <a:prstGeom prst="ellipse">
            <a:avLst/>
          </a:prstGeom>
          <a:solidFill>
            <a:srgbClr val="2F78B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28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without PageValues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093976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how much power remains if it is unavailable at decision time.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51760"/>
            <a:ext cx="384048" cy="384048"/>
          </a:xfrm>
          <a:prstGeom prst="ellipse">
            <a:avLst/>
          </a:prstGeom>
          <a:solidFill>
            <a:srgbClr val="2F78B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5603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sequence models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825496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event-level clickstream data to capture order and timing of actions.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383280"/>
            <a:ext cx="384048" cy="384048"/>
          </a:xfrm>
          <a:prstGeom prst="ellipse">
            <a:avLst/>
          </a:prstGeom>
          <a:solidFill>
            <a:srgbClr val="2F78B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2918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calibration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557016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Platt scaling or isotonic regression before allocating budget.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14800"/>
            <a:ext cx="384048" cy="384048"/>
          </a:xfrm>
          <a:prstGeom prst="ellipse">
            <a:avLst/>
          </a:prstGeom>
          <a:solidFill>
            <a:srgbClr val="2F78B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40233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 interventions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288536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that targeting High-Intent sessions actually lifts conversion.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46320" y="1097280"/>
            <a:ext cx="384048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graphicFrame>
        <p:nvGraphicFramePr>
          <p:cNvPr id="19" name="Chart 0"/>
          <p:cNvGraphicFramePr/>
          <p:nvPr/>
        </p:nvGraphicFramePr>
        <p:xfrm>
          <a:off x="4892040" y="1143000"/>
          <a:ext cx="3749040" cy="2971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4846320" y="42519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0.35 threshold gave F1 68.5% and recall 73.0%, but it was picked on the test set, so it must be re-validated.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26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09006" y="3294289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463731" y="4304211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09006" y="945425"/>
            <a:ext cx="2560320" cy="1737360"/>
          </a:xfrm>
          <a:prstGeom prst="roundRect">
            <a:avLst>
              <a:gd name="adj" fmla="val 5263"/>
            </a:avLst>
          </a:prstGeom>
          <a:solidFill>
            <a:srgbClr val="1B3A57"/>
          </a:solidFill>
          <a:ln w="12700">
            <a:solidFill>
              <a:srgbClr val="1B3A57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" name="Text 3"/>
          <p:cNvSpPr txBox="1"/>
          <p:nvPr/>
        </p:nvSpPr>
        <p:spPr>
          <a:xfrm>
            <a:off x="346165" y="110871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0.927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287383" y="1799409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and 80% purchaser recall from the final class-weighted XGBoost.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08961" y="1271180"/>
            <a:ext cx="2560320" cy="1737360"/>
          </a:xfrm>
          <a:prstGeom prst="roundRect">
            <a:avLst>
              <a:gd name="adj" fmla="val 5263"/>
            </a:avLst>
          </a:prstGeom>
          <a:solidFill>
            <a:srgbClr val="1B3A57"/>
          </a:solidFill>
          <a:ln w="12700">
            <a:solidFill>
              <a:srgbClr val="1B3A57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8" name="Text 6"/>
          <p:cNvSpPr txBox="1"/>
          <p:nvPr/>
        </p:nvSpPr>
        <p:spPr>
          <a:xfrm>
            <a:off x="3389811" y="147447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PageValues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389811" y="2032907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strongest driver, followed by seasonality (especially November).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1525905"/>
            <a:ext cx="2560320" cy="1737360"/>
          </a:xfrm>
          <a:prstGeom prst="roundRect">
            <a:avLst>
              <a:gd name="adj" fmla="val 5263"/>
            </a:avLst>
          </a:prstGeom>
          <a:solidFill>
            <a:srgbClr val="1B3A57"/>
          </a:solidFill>
          <a:ln w="12700">
            <a:solidFill>
              <a:srgbClr val="1B3A57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9"/>
          <p:cNvSpPr txBox="1"/>
          <p:nvPr/>
        </p:nvSpPr>
        <p:spPr>
          <a:xfrm>
            <a:off x="6126480" y="149814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65.87%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2115366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rate in High-Intent sessions vs 15.65% overall.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263" y="51924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2277</Words>
  <Application>Microsoft Office PowerPoint</Application>
  <PresentationFormat>On-screen Show (16:9)</PresentationFormat>
  <Paragraphs>219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Online Purchase Intention</dc:title>
  <dc:subject>PptxGenJS Presentation</dc:subject>
  <dc:creator>PptxGenJS</dc:creator>
  <cp:lastModifiedBy>Shirley Amponsah</cp:lastModifiedBy>
  <cp:revision>3</cp:revision>
  <dcterms:created xsi:type="dcterms:W3CDTF">2026-09-18T18:24:47Z</dcterms:created>
  <dcterms:modified xsi:type="dcterms:W3CDTF">2026-09-18T20:11:56Z</dcterms:modified>
</cp:coreProperties>
</file>