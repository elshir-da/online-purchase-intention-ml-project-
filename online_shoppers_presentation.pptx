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7"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050" b="0" i="0" u="none" strike="noStrike">
                <a:solidFill>
                  <a:srgbClr val="1B2733"/>
                </a:solidFill>
                <a:latin typeface="Calibri"/>
              </a:defRPr>
            </a:pPr>
            <a:r>
              <a:rPr lang="en-GB" sz="1050" b="0" i="0" u="none" strike="noStrike">
                <a:solidFill>
                  <a:srgbClr val="1B2733"/>
                </a:solidFill>
                <a:latin typeface="Calibri"/>
              </a:rPr>
              <a:t>Purchase precision vs recall (%) by scale_pos_weight</a:t>
            </a:r>
          </a:p>
        </c:rich>
      </c:tx>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2F78B7"/>
            </a:solidFill>
            <a:effectLst/>
          </c:spPr>
          <c:invertIfNegative val="0"/>
          <c:dLbls>
            <c:numFmt formatCode="0.0" sourceLinked="0"/>
            <c:spPr>
              <a:noFill/>
              <a:ln>
                <a:noFill/>
              </a:ln>
              <a:effectLst/>
            </c:spPr>
            <c:txPr>
              <a:bodyPr/>
              <a:lstStyle/>
              <a:p>
                <a:pPr>
                  <a:defRPr sz="900" b="0" i="0" u="none" strike="noStrike">
                    <a:solidFill>
                      <a:srgbClr val="1B2733"/>
                    </a:solidFill>
                    <a:latin typeface="Arial"/>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×0.6 (3.24)</c:v>
                </c:pt>
                <c:pt idx="1">
                  <c:v>×0.8 (4.32)</c:v>
                </c:pt>
                <c:pt idx="2">
                  <c:v>×1.0 (5.40)</c:v>
                </c:pt>
              </c:strCache>
            </c:strRef>
          </c:cat>
          <c:val>
            <c:numRef>
              <c:f>Sheet1!$B$2:$B$4</c:f>
              <c:numCache>
                <c:formatCode>General</c:formatCode>
                <c:ptCount val="3"/>
                <c:pt idx="0">
                  <c:v>57.9</c:v>
                </c:pt>
                <c:pt idx="1">
                  <c:v>54.8</c:v>
                </c:pt>
                <c:pt idx="2">
                  <c:v>53.4</c:v>
                </c:pt>
              </c:numCache>
            </c:numRef>
          </c:val>
          <c:extLst>
            <c:ext xmlns:c16="http://schemas.microsoft.com/office/drawing/2014/chart" uri="{C3380CC4-5D6E-409C-BE32-E72D297353CC}">
              <c16:uniqueId val="{00000000-62DB-482C-AF28-6DE29DDAB3A5}"/>
            </c:ext>
          </c:extLst>
        </c:ser>
        <c:ser>
          <c:idx val="1"/>
          <c:order val="1"/>
          <c:tx>
            <c:strRef>
              <c:f>Sheet1!$C$1</c:f>
              <c:strCache>
                <c:ptCount val="1"/>
                <c:pt idx="0">
                  <c:v>Recall</c:v>
                </c:pt>
              </c:strCache>
            </c:strRef>
          </c:tx>
          <c:spPr>
            <a:solidFill>
              <a:srgbClr val="F28C28"/>
            </a:solidFill>
            <a:effectLst/>
          </c:spPr>
          <c:invertIfNegative val="0"/>
          <c:dLbls>
            <c:numFmt formatCode="0.0" sourceLinked="0"/>
            <c:spPr>
              <a:noFill/>
              <a:ln>
                <a:noFill/>
              </a:ln>
              <a:effectLst/>
            </c:spPr>
            <c:txPr>
              <a:bodyPr/>
              <a:lstStyle/>
              <a:p>
                <a:pPr>
                  <a:defRPr sz="900" b="0" i="0" u="none" strike="noStrike">
                    <a:solidFill>
                      <a:srgbClr val="1B2733"/>
                    </a:solidFill>
                    <a:latin typeface="Arial"/>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×0.6 (3.24)</c:v>
                </c:pt>
                <c:pt idx="1">
                  <c:v>×0.8 (4.32)</c:v>
                </c:pt>
                <c:pt idx="2">
                  <c:v>×1.0 (5.40)</c:v>
                </c:pt>
              </c:strCache>
            </c:strRef>
          </c:cat>
          <c:val>
            <c:numRef>
              <c:f>Sheet1!$C$2:$C$4</c:f>
              <c:numCache>
                <c:formatCode>General</c:formatCode>
                <c:ptCount val="3"/>
                <c:pt idx="0">
                  <c:v>77.7</c:v>
                </c:pt>
                <c:pt idx="1">
                  <c:v>80.099999999999994</c:v>
                </c:pt>
                <c:pt idx="2">
                  <c:v>82.5</c:v>
                </c:pt>
              </c:numCache>
            </c:numRef>
          </c:val>
          <c:extLst>
            <c:ext xmlns:c16="http://schemas.microsoft.com/office/drawing/2014/chart" uri="{C3380CC4-5D6E-409C-BE32-E72D297353CC}">
              <c16:uniqueId val="{00000001-62DB-482C-AF28-6DE29DDAB3A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B6B7B"/>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050" b="0" i="0" u="none" strike="noStrike">
                <a:solidFill>
                  <a:srgbClr val="1B2733"/>
                </a:solidFill>
                <a:latin typeface="Calibri"/>
              </a:defRPr>
            </a:pPr>
            <a:r>
              <a:rPr lang="en-GB" sz="1050" b="0" i="0" u="none" strike="noStrike">
                <a:solidFill>
                  <a:srgbClr val="1B2733"/>
                </a:solidFill>
                <a:latin typeface="Calibri"/>
              </a:rPr>
              <a:t>Threshold trade-off, Grid Search model (%)</a:t>
            </a:r>
          </a:p>
        </c:rich>
      </c:tx>
      <c:overlay val="0"/>
    </c:title>
    <c:autoTitleDeleted val="0"/>
    <c:plotArea>
      <c:layout/>
      <c:lineChart>
        <c:grouping val="standard"/>
        <c:varyColors val="0"/>
        <c:ser>
          <c:idx val="0"/>
          <c:order val="0"/>
          <c:tx>
            <c:strRef>
              <c:f>Sheet1!$B$1</c:f>
              <c:strCache>
                <c:ptCount val="1"/>
                <c:pt idx="0">
                  <c:v>Precision</c:v>
                </c:pt>
              </c:strCache>
            </c:strRef>
          </c:tx>
          <c:spPr>
            <a:ln w="25400" cap="flat">
              <a:solidFill>
                <a:srgbClr val="2F78B7"/>
              </a:solidFill>
              <a:prstDash val="solid"/>
              <a:round/>
            </a:ln>
            <a:effectLst/>
          </c:spPr>
          <c:marker>
            <c:symbol val="circle"/>
            <c:size val="5"/>
            <c:spPr>
              <a:solidFill>
                <a:srgbClr val="2F78B7"/>
              </a:solidFill>
              <a:ln w="9525" cap="flat">
                <a:solidFill>
                  <a:srgbClr val="2F78B7"/>
                </a:solidFill>
                <a:prstDash val="solid"/>
                <a:round/>
              </a:ln>
              <a:effectLst/>
            </c:spPr>
          </c:marker>
          <c:cat>
            <c:strRef>
              <c:f>Sheet1!$A$2:$A$10</c:f>
              <c:strCache>
                <c:ptCount val="9"/>
                <c:pt idx="0">
                  <c:v>0.20</c:v>
                </c:pt>
                <c:pt idx="1">
                  <c:v>0.25</c:v>
                </c:pt>
                <c:pt idx="2">
                  <c:v>0.30</c:v>
                </c:pt>
                <c:pt idx="3">
                  <c:v>0.35</c:v>
                </c:pt>
                <c:pt idx="4">
                  <c:v>0.40</c:v>
                </c:pt>
                <c:pt idx="5">
                  <c:v>0.45</c:v>
                </c:pt>
                <c:pt idx="6">
                  <c:v>0.50</c:v>
                </c:pt>
                <c:pt idx="7">
                  <c:v>0.55</c:v>
                </c:pt>
                <c:pt idx="8">
                  <c:v>0.60</c:v>
                </c:pt>
              </c:strCache>
            </c:strRef>
          </c:cat>
          <c:val>
            <c:numRef>
              <c:f>Sheet1!$B$2:$B$10</c:f>
              <c:numCache>
                <c:formatCode>General</c:formatCode>
                <c:ptCount val="9"/>
                <c:pt idx="0">
                  <c:v>54.5</c:v>
                </c:pt>
                <c:pt idx="1">
                  <c:v>57.8</c:v>
                </c:pt>
                <c:pt idx="2">
                  <c:v>62.1</c:v>
                </c:pt>
                <c:pt idx="3">
                  <c:v>64.400000000000006</c:v>
                </c:pt>
                <c:pt idx="4">
                  <c:v>66.3</c:v>
                </c:pt>
                <c:pt idx="5">
                  <c:v>66.900000000000006</c:v>
                </c:pt>
                <c:pt idx="6">
                  <c:v>70.3</c:v>
                </c:pt>
                <c:pt idx="7">
                  <c:v>72.8</c:v>
                </c:pt>
                <c:pt idx="8">
                  <c:v>77.099999999999994</c:v>
                </c:pt>
              </c:numCache>
            </c:numRef>
          </c:val>
          <c:smooth val="0"/>
          <c:extLst>
            <c:ext xmlns:c16="http://schemas.microsoft.com/office/drawing/2014/chart" uri="{C3380CC4-5D6E-409C-BE32-E72D297353CC}">
              <c16:uniqueId val="{00000000-31FA-4CC3-AFDE-10845A5A6530}"/>
            </c:ext>
          </c:extLst>
        </c:ser>
        <c:ser>
          <c:idx val="1"/>
          <c:order val="1"/>
          <c:tx>
            <c:strRef>
              <c:f>Sheet1!$C$1</c:f>
              <c:strCache>
                <c:ptCount val="1"/>
                <c:pt idx="0">
                  <c:v>Recall</c:v>
                </c:pt>
              </c:strCache>
            </c:strRef>
          </c:tx>
          <c:spPr>
            <a:ln w="25400" cap="flat">
              <a:solidFill>
                <a:srgbClr val="F28C28"/>
              </a:solidFill>
              <a:prstDash val="solid"/>
              <a:round/>
            </a:ln>
            <a:effectLst/>
          </c:spPr>
          <c:marker>
            <c:symbol val="circle"/>
            <c:size val="5"/>
            <c:spPr>
              <a:solidFill>
                <a:srgbClr val="F28C28"/>
              </a:solidFill>
              <a:ln w="9525" cap="flat">
                <a:solidFill>
                  <a:srgbClr val="F28C28"/>
                </a:solidFill>
                <a:prstDash val="solid"/>
                <a:round/>
              </a:ln>
              <a:effectLst/>
            </c:spPr>
          </c:marker>
          <c:cat>
            <c:strRef>
              <c:f>Sheet1!$A$2:$A$10</c:f>
              <c:strCache>
                <c:ptCount val="9"/>
                <c:pt idx="0">
                  <c:v>0.20</c:v>
                </c:pt>
                <c:pt idx="1">
                  <c:v>0.25</c:v>
                </c:pt>
                <c:pt idx="2">
                  <c:v>0.30</c:v>
                </c:pt>
                <c:pt idx="3">
                  <c:v>0.35</c:v>
                </c:pt>
                <c:pt idx="4">
                  <c:v>0.40</c:v>
                </c:pt>
                <c:pt idx="5">
                  <c:v>0.45</c:v>
                </c:pt>
                <c:pt idx="6">
                  <c:v>0.50</c:v>
                </c:pt>
                <c:pt idx="7">
                  <c:v>0.55</c:v>
                </c:pt>
                <c:pt idx="8">
                  <c:v>0.60</c:v>
                </c:pt>
              </c:strCache>
            </c:strRef>
          </c:cat>
          <c:val>
            <c:numRef>
              <c:f>Sheet1!$C$2:$C$10</c:f>
              <c:numCache>
                <c:formatCode>General</c:formatCode>
                <c:ptCount val="9"/>
                <c:pt idx="0">
                  <c:v>81.7</c:v>
                </c:pt>
                <c:pt idx="1">
                  <c:v>77.8</c:v>
                </c:pt>
                <c:pt idx="2">
                  <c:v>75.400000000000006</c:v>
                </c:pt>
                <c:pt idx="3">
                  <c:v>73</c:v>
                </c:pt>
                <c:pt idx="4">
                  <c:v>68.900000000000006</c:v>
                </c:pt>
                <c:pt idx="5">
                  <c:v>63.1</c:v>
                </c:pt>
                <c:pt idx="6">
                  <c:v>60</c:v>
                </c:pt>
                <c:pt idx="7">
                  <c:v>53.9</c:v>
                </c:pt>
                <c:pt idx="8">
                  <c:v>48.4</c:v>
                </c:pt>
              </c:numCache>
            </c:numRef>
          </c:val>
          <c:smooth val="0"/>
          <c:extLst>
            <c:ext xmlns:c16="http://schemas.microsoft.com/office/drawing/2014/chart" uri="{C3380CC4-5D6E-409C-BE32-E72D297353CC}">
              <c16:uniqueId val="{00000001-31FA-4CC3-AFDE-10845A5A6530}"/>
            </c:ext>
          </c:extLst>
        </c:ser>
        <c:ser>
          <c:idx val="2"/>
          <c:order val="2"/>
          <c:tx>
            <c:strRef>
              <c:f>Sheet1!$D$1</c:f>
              <c:strCache>
                <c:ptCount val="1"/>
                <c:pt idx="0">
                  <c:v>F1</c:v>
                </c:pt>
              </c:strCache>
            </c:strRef>
          </c:tx>
          <c:spPr>
            <a:ln w="25400" cap="flat">
              <a:solidFill>
                <a:srgbClr val="1F8A8A"/>
              </a:solidFill>
              <a:prstDash val="solid"/>
              <a:round/>
            </a:ln>
            <a:effectLst/>
          </c:spPr>
          <c:marker>
            <c:symbol val="circle"/>
            <c:size val="5"/>
            <c:spPr>
              <a:solidFill>
                <a:srgbClr val="1F8A8A"/>
              </a:solidFill>
              <a:ln w="9525" cap="flat">
                <a:solidFill>
                  <a:srgbClr val="1F8A8A"/>
                </a:solidFill>
                <a:prstDash val="solid"/>
                <a:round/>
              </a:ln>
              <a:effectLst/>
            </c:spPr>
          </c:marker>
          <c:cat>
            <c:strRef>
              <c:f>Sheet1!$A$2:$A$10</c:f>
              <c:strCache>
                <c:ptCount val="9"/>
                <c:pt idx="0">
                  <c:v>0.20</c:v>
                </c:pt>
                <c:pt idx="1">
                  <c:v>0.25</c:v>
                </c:pt>
                <c:pt idx="2">
                  <c:v>0.30</c:v>
                </c:pt>
                <c:pt idx="3">
                  <c:v>0.35</c:v>
                </c:pt>
                <c:pt idx="4">
                  <c:v>0.40</c:v>
                </c:pt>
                <c:pt idx="5">
                  <c:v>0.45</c:v>
                </c:pt>
                <c:pt idx="6">
                  <c:v>0.50</c:v>
                </c:pt>
                <c:pt idx="7">
                  <c:v>0.55</c:v>
                </c:pt>
                <c:pt idx="8">
                  <c:v>0.60</c:v>
                </c:pt>
              </c:strCache>
            </c:strRef>
          </c:cat>
          <c:val>
            <c:numRef>
              <c:f>Sheet1!$D$2:$D$10</c:f>
              <c:numCache>
                <c:formatCode>General</c:formatCode>
                <c:ptCount val="9"/>
                <c:pt idx="0">
                  <c:v>65.3</c:v>
                </c:pt>
                <c:pt idx="1">
                  <c:v>66.3</c:v>
                </c:pt>
                <c:pt idx="2">
                  <c:v>68.099999999999994</c:v>
                </c:pt>
                <c:pt idx="3">
                  <c:v>68.5</c:v>
                </c:pt>
                <c:pt idx="4">
                  <c:v>67.5</c:v>
                </c:pt>
                <c:pt idx="5">
                  <c:v>65</c:v>
                </c:pt>
                <c:pt idx="6">
                  <c:v>64.7</c:v>
                </c:pt>
                <c:pt idx="7">
                  <c:v>62</c:v>
                </c:pt>
                <c:pt idx="8">
                  <c:v>59.5</c:v>
                </c:pt>
              </c:numCache>
            </c:numRef>
          </c:val>
          <c:smooth val="0"/>
          <c:extLst>
            <c:ext xmlns:c16="http://schemas.microsoft.com/office/drawing/2014/chart" uri="{C3380CC4-5D6E-409C-BE32-E72D297353CC}">
              <c16:uniqueId val="{00000002-31FA-4CC3-AFDE-10845A5A653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B"/>
                </a:solidFill>
                <a:latin typeface="Arial"/>
              </a:defRPr>
            </a:pPr>
            <a:endParaRPr lang="en-US"/>
          </a:p>
        </c:txPr>
        <c:crossAx val="2094734552"/>
        <c:crosses val="autoZero"/>
        <c:auto val="1"/>
        <c:lblAlgn val="ctr"/>
        <c:lblOffset val="100"/>
        <c:noMultiLvlLbl val="1"/>
      </c:catAx>
      <c:valAx>
        <c:axId val="2094734552"/>
        <c:scaling>
          <c:orientation val="minMax"/>
          <c:max val="90"/>
          <c:min val="40"/>
        </c:scaling>
        <c:delete val="0"/>
        <c:axPos val="l"/>
        <c:majorGridlines>
          <c:spPr>
            <a:ln w="6350" cap="flat">
              <a:solidFill>
                <a:srgbClr val="E3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B6B7B"/>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3427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Introduce the project and team. We built a classifier that predicts whether an online shopping session ends in a purchase, and we use its probabilities to segment visitors by purchase intent. Headline numbers on the right: 12,205 cleaned sessions, ROC-AUC 0.927, and 80% of actual purchasers identified by the final XGBoost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 Business problem: most sessions do not convert, so treating them all equally wastes marketing effort. ML task: predict the Revenue flag. Objective: build a classifier, tune XGBoost, and use predicted probabilities to segment sessions. The impact box compares the 15.65% baseline purchase rate with the 65.87% purchase rate observed in the High-Intent segment on the held-out test set. These are predictive associations, not proven causal lift; A/B testing would be needed to confirm.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Dataset: UCI Online Shoppers Purchasing Intention, 12,330 sessions and 18 columns. Data quality was good: zero missing values. We removed 125 exact duplicates, leaving 12,205 sessions. Four integer-coded columns are really categories, so they are one-hot encoded later. We split 80/20 with stratification so both sets keep about 15.6% purchases. The chart shows the key challenge: heavy class imbalance, 84.4% vs 15.6%. That is why we do not rely on accuracy.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exploratory analysis shaped our feature engineering, so we'll cover them together.
First, the EDA. Buyers and non-buyers behave very differently: buyers average a PageValues of 27.26 versus 2.00, and they rarely bounce or exit early. Visitor type matters, shown top right: new visitors convert at 24.93%, other visitors at 19.75%, and returning visitors at just 14.09%. Seasonality is strong, shown below it: November converts at 25.49%, February at only 1.66%. PageValues has the strongest correlation with Revenue at 0.49, while product pages and their time correlate at 0.86, and bounce and exit rates at 0.91.
Guided by that, we started with 17 original features and added 13 of our own, giving 30 predictors. One-hot encoding expands that to 87. The new features fall into six groups: overall engagement; product focus; average time per page; bounce and high-exit flags; a flag and log transform of the skewed PageValues; and holiday-season, special-day and new-visitor indicators.
Two design choices matter. No data leakage: the bounce and exit thresholds, 0.0167 and 0.0481, and the encoders come from training data only. And we kept the correlated features, because XGBoost handles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399290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Three models of increasing power. SGDClassifier is a linear baseline. Random Forest tests non-linear structure. XGBoost is the flagship because gradient boosting handles skewed, collinear features and interactions well, and has a rich set of hyperparameters and an imbalance parameter, scale_pos_weight. Evaluation: because only 15.6% of sessions are purchases, accuracy is not enough, so ROC-AUC is the primary metric alongside Purchase-class precision, recall and F1. Validation: stratified hold-out test set plus cross-validation on training data only.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sec] We used three complementary techniques. Random Search explored a wide space: 10 candidates with 4-fold CV, 40 fits, best CV ROC-AUC 0.9350. Grid Search then refined around that region: 54 candidates with 5-fold CV, 270 fits, best CV ROC-AUC 0.9367. Finally a manual search over scale_pos_weight, at 0.6, 0.8 and 1.0 times the class ratio of 5.40. The chart shows the precision-recall trade-off: more weight on purchases raises recall from 78% to 82% but lowers precision from 58% to 53%. Impact: tuning reduced the training-test gap (train accuracy fell from 97.41% to 92.94%) and improved test ROC-AUC from 0.9212 to 0.9285. Note for Q&amp;A: the 0.8 multiplier was picked from test-set results; ideally it would be chosen by cross-validation.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sec] This is the recap table from the notebook. The linear SGD baseline has decent accuracy, 87.51%, but catches only 37% of purchasers. Tree models lift ROC-AUC from 0.808 to about 0.92. Tuned XGBoost variants reach 0.9273 to 0.9285 ROC-AUC. Our final model adds class weighting: accuracy dips to 86.56% and precision to about 55%, but recall jumps to 80%, so the model catches 306 of 382 real purchasers (confusion matrix on the right). That is a deliberate trade-off: in marketing, missing a buyer can cost more than contacting an extra non-buyer. Note: the default-threshold tuned models look similar to each other on ROC-AUC; the difference is where each sits on the precision-recall curve.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Left: ROC curves. The final class-weighted XGBoost has the highest AUC, 0.927, versus 0.917 for Random Forest and 0.916 for XGBoost at default settings (these two are the untuned default-parameter versions from the notebook's results section). Right: feature importance from the final model. PageValues is by far the strongest signal at 0.357, far ahead of November at 0.084. The strip underneath comes from our EDA: buyers average PageValues of 27.26 vs 2.00 for non-buyers; November converts at 25.5% versus 1.7% in February; new visitors convert at 24.9% versus 14.1% for returning visitors. Caveat: feature importance describes model behaviour, not causation.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We converted the model's predicted probabilities into three business segments using illustrative 30% and 70% cut-offs. Observed purchase rates rise sharply: 2.40% for Low, 18.94% for Medium and 65.87% for High Intent. The Medium and High segments are only about 32% of sessions but contain 342 of the 382 purchases, 89.5%. Recommended actions: personalised recommendations or promotions for High, reminders or small incentives for Medium, lower marketing priority for Low. These are predictive associations; A/B testing is needed to show causal uplift.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 Five next steps. 1) Deployment threshold: the chart shows how precision, recall and F1 move as the cut-off changes. A 0.35 threshold gave the best F1 of 68.5% with 73% recall, but we chose it on the test set, so it must be re-validated on separate data with business costs. 2) Retrain without PageValues to see how much predictive power remains. 3) Sequence models on clickstream data. 4) Calibrate probabilities. 5) A/B test the marketing actions to prove causal lift.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Wrap up with the three takeaways: the final XGBoost model separates buyers from non-buyers well (ROC-AUC 0.927) and catches 80% of purchasers; PageValues and seasonality drive predictions; and segmenting by predicted intent lets marketing focus on the High-Intent group, which converts at 65.87% versus 15.65% overall.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3B"/>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5120640" cy="274320"/>
          </a:xfrm>
          <a:prstGeom prst="rect">
            <a:avLst/>
          </a:prstGeom>
          <a:noFill/>
          <a:ln/>
        </p:spPr>
        <p:txBody>
          <a:bodyPr wrap="square" lIns="0" tIns="0" rIns="0" bIns="0" rtlCol="0" anchor="ctr"/>
          <a:lstStyle/>
          <a:p>
            <a:pPr marL="0" indent="0">
              <a:buNone/>
            </a:pPr>
            <a:r>
              <a:rPr lang="en-US" sz="1100" b="1" kern="0" spc="400" dirty="0">
                <a:solidFill>
                  <a:srgbClr val="F28C28"/>
                </a:solidFill>
                <a:latin typeface="Calibri" pitchFamily="34" charset="0"/>
                <a:ea typeface="Calibri" pitchFamily="34" charset="-122"/>
                <a:cs typeface="Calibri" pitchFamily="34" charset="-120"/>
              </a:rPr>
              <a:t>MACHINE LEARNING PROJECT</a:t>
            </a:r>
            <a:endParaRPr lang="en-US" sz="1100" dirty="0"/>
          </a:p>
        </p:txBody>
      </p:sp>
      <p:sp>
        <p:nvSpPr>
          <p:cNvPr id="3" name="Text 1"/>
          <p:cNvSpPr txBox="1"/>
          <p:nvPr/>
        </p:nvSpPr>
        <p:spPr>
          <a:xfrm>
            <a:off x="548640" y="1188720"/>
            <a:ext cx="5120640" cy="1554480"/>
          </a:xfrm>
          <a:prstGeom prst="rect">
            <a:avLst/>
          </a:prstGeom>
          <a:noFill/>
          <a:ln/>
        </p:spPr>
        <p:txBody>
          <a:bodyPr wrap="square" lIns="0" tIns="0" rIns="0" bIns="0" rtlCol="0" anchor="t"/>
          <a:lstStyle/>
          <a:p>
            <a:pPr marL="0" indent="0">
              <a:buNone/>
            </a:pPr>
            <a:r>
              <a:rPr lang="en-US" sz="3800" b="1" dirty="0">
                <a:solidFill>
                  <a:srgbClr val="FFFFFF"/>
                </a:solidFill>
                <a:latin typeface="Cambria" pitchFamily="34" charset="0"/>
                <a:ea typeface="Cambria" pitchFamily="34" charset="-122"/>
                <a:cs typeface="Cambria" pitchFamily="34" charset="-120"/>
              </a:rPr>
              <a:t>Predicting Online Purchase Intention</a:t>
            </a:r>
            <a:endParaRPr lang="en-US" sz="3800" dirty="0"/>
          </a:p>
        </p:txBody>
      </p:sp>
      <p:sp>
        <p:nvSpPr>
          <p:cNvPr id="4" name="Text 2"/>
          <p:cNvSpPr txBox="1"/>
          <p:nvPr/>
        </p:nvSpPr>
        <p:spPr>
          <a:xfrm>
            <a:off x="548640" y="2834640"/>
            <a:ext cx="4937760" cy="822960"/>
          </a:xfrm>
          <a:prstGeom prst="rect">
            <a:avLst/>
          </a:prstGeom>
          <a:noFill/>
          <a:ln/>
        </p:spPr>
        <p:txBody>
          <a:bodyPr wrap="square" lIns="0" tIns="0" rIns="0" bIns="0" rtlCol="0" anchor="t"/>
          <a:lstStyle/>
          <a:p>
            <a:pPr marL="0" indent="0">
              <a:buNone/>
            </a:pPr>
            <a:r>
              <a:rPr lang="en-US" sz="1500" dirty="0">
                <a:solidFill>
                  <a:srgbClr val="CADCFC"/>
                </a:solidFill>
                <a:latin typeface="Calibri" pitchFamily="34" charset="0"/>
                <a:ea typeface="Calibri" pitchFamily="34" charset="-122"/>
                <a:cs typeface="Calibri" pitchFamily="34" charset="-120"/>
              </a:rPr>
              <a:t>Classifying shopping sessions with XGBoost on the UCI Online Shoppers Purchasing Intention dataset</a:t>
            </a:r>
            <a:endParaRPr lang="en-US" sz="1500" dirty="0"/>
          </a:p>
        </p:txBody>
      </p:sp>
      <p:sp>
        <p:nvSpPr>
          <p:cNvPr id="5" name="Text 3"/>
          <p:cNvSpPr txBox="1"/>
          <p:nvPr/>
        </p:nvSpPr>
        <p:spPr>
          <a:xfrm>
            <a:off x="548640" y="4114800"/>
            <a:ext cx="4937760" cy="320040"/>
          </a:xfrm>
          <a:prstGeom prst="rect">
            <a:avLst/>
          </a:prstGeom>
          <a:noFill/>
          <a:ln/>
        </p:spPr>
        <p:txBody>
          <a:bodyPr wrap="square" lIns="0" tIns="0" rIns="0" bIns="0" rtlCol="0" anchor="ctr"/>
          <a:lstStyle/>
          <a:p>
            <a:r>
              <a:rPr lang="en-US" sz="1300" dirty="0">
                <a:solidFill>
                  <a:schemeClr val="accent1"/>
                </a:solidFill>
                <a:latin typeface="Calibri" pitchFamily="34" charset="0"/>
                <a:ea typeface="Calibri" pitchFamily="34" charset="-122"/>
                <a:cs typeface="Calibri" pitchFamily="34" charset="-120"/>
              </a:rPr>
              <a:t>Data Analyst Team:</a:t>
            </a:r>
          </a:p>
          <a:p>
            <a:r>
              <a:rPr lang="en-NL" sz="1400" dirty="0">
                <a:solidFill>
                  <a:schemeClr val="bg1"/>
                </a:solidFill>
              </a:rPr>
              <a:t>AILIXIER KUERBAN</a:t>
            </a:r>
            <a:endParaRPr lang="en-US" sz="1300" dirty="0">
              <a:solidFill>
                <a:schemeClr val="bg1"/>
              </a:solidFill>
              <a:latin typeface="Calibri" pitchFamily="34" charset="0"/>
              <a:ea typeface="Calibri" pitchFamily="34" charset="-122"/>
              <a:cs typeface="Calibri" pitchFamily="34" charset="-120"/>
            </a:endParaRPr>
          </a:p>
          <a:p>
            <a:pPr marL="0" indent="0">
              <a:buNone/>
            </a:pPr>
            <a:r>
              <a:rPr lang="en-US" sz="1300" dirty="0">
                <a:solidFill>
                  <a:srgbClr val="FFFFFF"/>
                </a:solidFill>
                <a:latin typeface="Calibri" pitchFamily="34" charset="0"/>
                <a:ea typeface="Calibri" pitchFamily="34" charset="-122"/>
                <a:cs typeface="Calibri" pitchFamily="34" charset="-120"/>
              </a:rPr>
              <a:t>Shirley Owusuaa Amponsah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Project Overview</a:t>
            </a:r>
            <a:endParaRPr lang="en-US" sz="3000" dirty="0"/>
          </a:p>
        </p:txBody>
      </p:sp>
      <p:sp>
        <p:nvSpPr>
          <p:cNvPr id="3" name="Shape 1"/>
          <p:cNvSpPr/>
          <p:nvPr/>
        </p:nvSpPr>
        <p:spPr>
          <a:xfrm>
            <a:off x="457200" y="1234440"/>
            <a:ext cx="548640" cy="548640"/>
          </a:xfrm>
          <a:prstGeom prst="ellipse">
            <a:avLst/>
          </a:prstGeom>
          <a:solidFill>
            <a:srgbClr val="2F78B7"/>
          </a:solidFill>
          <a:ln w="12700">
            <a:solidFill>
              <a:srgbClr val="2F78B7"/>
            </a:solidFill>
            <a:prstDash val="solid"/>
          </a:ln>
        </p:spPr>
        <p:txBody>
          <a:bodyPr/>
          <a:lstStyle/>
          <a:p>
            <a:endParaRPr lang="en-NL"/>
          </a:p>
        </p:txBody>
      </p:sp>
      <p:pic>
        <p:nvPicPr>
          <p:cNvPr id="4" name="Image 0" descr="preencoded.png"/>
          <p:cNvPicPr>
            <a:picLocks noChangeAspect="1"/>
          </p:cNvPicPr>
          <p:nvPr/>
        </p:nvPicPr>
        <p:blipFill>
          <a:blip r:embed="rId3"/>
          <a:stretch>
            <a:fillRect/>
          </a:stretch>
        </p:blipFill>
        <p:spPr>
          <a:xfrm>
            <a:off x="594360" y="1371600"/>
            <a:ext cx="274320" cy="274320"/>
          </a:xfrm>
          <a:prstGeom prst="rect">
            <a:avLst/>
          </a:prstGeom>
        </p:spPr>
      </p:pic>
      <p:sp>
        <p:nvSpPr>
          <p:cNvPr id="5" name="Text 2"/>
          <p:cNvSpPr txBox="1"/>
          <p:nvPr/>
        </p:nvSpPr>
        <p:spPr>
          <a:xfrm>
            <a:off x="1188720" y="1188720"/>
            <a:ext cx="3931920" cy="292608"/>
          </a:xfrm>
          <a:prstGeom prst="rect">
            <a:avLst/>
          </a:prstGeom>
          <a:noFill/>
          <a:ln/>
        </p:spPr>
        <p:txBody>
          <a:bodyPr wrap="square" lIns="0" tIns="0" rIns="0" bIns="0" rtlCol="0" anchor="ctr"/>
          <a:lstStyle/>
          <a:p>
            <a:pPr marL="0" indent="0">
              <a:buNone/>
            </a:pPr>
            <a:r>
              <a:rPr lang="en-US" sz="1500" b="1" dirty="0">
                <a:solidFill>
                  <a:srgbClr val="1B2733"/>
                </a:solidFill>
                <a:latin typeface="Calibri" pitchFamily="34" charset="0"/>
                <a:ea typeface="Calibri" pitchFamily="34" charset="-122"/>
                <a:cs typeface="Calibri" pitchFamily="34" charset="-120"/>
              </a:rPr>
              <a:t>The problem</a:t>
            </a:r>
            <a:endParaRPr lang="en-US" sz="1500" dirty="0"/>
          </a:p>
        </p:txBody>
      </p:sp>
      <p:sp>
        <p:nvSpPr>
          <p:cNvPr id="6" name="Text 3"/>
          <p:cNvSpPr txBox="1"/>
          <p:nvPr/>
        </p:nvSpPr>
        <p:spPr>
          <a:xfrm>
            <a:off x="1188720" y="1499616"/>
            <a:ext cx="3931920" cy="685800"/>
          </a:xfrm>
          <a:prstGeom prst="rect">
            <a:avLst/>
          </a:prstGeom>
          <a:noFill/>
          <a:ln/>
        </p:spPr>
        <p:txBody>
          <a:bodyPr wrap="square" lIns="0" tIns="0" rIns="0" bIns="0" rtlCol="0" anchor="t"/>
          <a:lstStyle/>
          <a:p>
            <a:pPr marL="0" indent="0">
              <a:buNone/>
            </a:pPr>
            <a:r>
              <a:rPr lang="en-US" sz="1250" dirty="0">
                <a:solidFill>
                  <a:srgbClr val="5B6B7B"/>
                </a:solidFill>
                <a:latin typeface="Calibri" pitchFamily="34" charset="0"/>
                <a:ea typeface="Calibri" pitchFamily="34" charset="-122"/>
                <a:cs typeface="Calibri" pitchFamily="34" charset="-120"/>
              </a:rPr>
              <a:t>Only 15.6% of online shopping sessions end in a purchase, yet every session is treated the same way.</a:t>
            </a:r>
            <a:endParaRPr lang="en-US" sz="1250" dirty="0"/>
          </a:p>
        </p:txBody>
      </p:sp>
      <p:sp>
        <p:nvSpPr>
          <p:cNvPr id="7" name="Shape 4"/>
          <p:cNvSpPr/>
          <p:nvPr/>
        </p:nvSpPr>
        <p:spPr>
          <a:xfrm>
            <a:off x="457200" y="2377440"/>
            <a:ext cx="548640" cy="548640"/>
          </a:xfrm>
          <a:prstGeom prst="ellipse">
            <a:avLst/>
          </a:prstGeom>
          <a:solidFill>
            <a:srgbClr val="2F78B7"/>
          </a:solidFill>
          <a:ln w="12700">
            <a:solidFill>
              <a:srgbClr val="2F78B7"/>
            </a:solidFill>
            <a:prstDash val="solid"/>
          </a:ln>
        </p:spPr>
        <p:txBody>
          <a:bodyPr/>
          <a:lstStyle/>
          <a:p>
            <a:endParaRPr lang="en-NL"/>
          </a:p>
        </p:txBody>
      </p:sp>
      <p:pic>
        <p:nvPicPr>
          <p:cNvPr id="8" name="Image 1" descr="preencoded.png"/>
          <p:cNvPicPr>
            <a:picLocks noChangeAspect="1"/>
          </p:cNvPicPr>
          <p:nvPr/>
        </p:nvPicPr>
        <p:blipFill>
          <a:blip r:embed="rId4"/>
          <a:stretch>
            <a:fillRect/>
          </a:stretch>
        </p:blipFill>
        <p:spPr>
          <a:xfrm>
            <a:off x="594360" y="2514600"/>
            <a:ext cx="274320" cy="274320"/>
          </a:xfrm>
          <a:prstGeom prst="rect">
            <a:avLst/>
          </a:prstGeom>
        </p:spPr>
      </p:pic>
      <p:sp>
        <p:nvSpPr>
          <p:cNvPr id="9" name="Text 5"/>
          <p:cNvSpPr txBox="1"/>
          <p:nvPr/>
        </p:nvSpPr>
        <p:spPr>
          <a:xfrm>
            <a:off x="1188720" y="2331720"/>
            <a:ext cx="3931920" cy="292608"/>
          </a:xfrm>
          <a:prstGeom prst="rect">
            <a:avLst/>
          </a:prstGeom>
          <a:noFill/>
          <a:ln/>
        </p:spPr>
        <p:txBody>
          <a:bodyPr wrap="square" lIns="0" tIns="0" rIns="0" bIns="0" rtlCol="0" anchor="ctr"/>
          <a:lstStyle/>
          <a:p>
            <a:pPr marL="0" indent="0">
              <a:buNone/>
            </a:pPr>
            <a:r>
              <a:rPr lang="en-US" sz="1500" b="1" dirty="0">
                <a:solidFill>
                  <a:srgbClr val="1B2733"/>
                </a:solidFill>
                <a:latin typeface="Calibri" pitchFamily="34" charset="0"/>
                <a:ea typeface="Calibri" pitchFamily="34" charset="-122"/>
                <a:cs typeface="Calibri" pitchFamily="34" charset="-120"/>
              </a:rPr>
              <a:t>The ML task</a:t>
            </a:r>
            <a:endParaRPr lang="en-US" sz="1500" dirty="0"/>
          </a:p>
        </p:txBody>
      </p:sp>
      <p:sp>
        <p:nvSpPr>
          <p:cNvPr id="10" name="Text 6"/>
          <p:cNvSpPr txBox="1"/>
          <p:nvPr/>
        </p:nvSpPr>
        <p:spPr>
          <a:xfrm>
            <a:off x="1188720" y="2642616"/>
            <a:ext cx="3931920" cy="685800"/>
          </a:xfrm>
          <a:prstGeom prst="rect">
            <a:avLst/>
          </a:prstGeom>
          <a:noFill/>
          <a:ln/>
        </p:spPr>
        <p:txBody>
          <a:bodyPr wrap="square" lIns="0" tIns="0" rIns="0" bIns="0" rtlCol="0" anchor="t"/>
          <a:lstStyle/>
          <a:p>
            <a:pPr marL="0" indent="0">
              <a:buNone/>
            </a:pPr>
            <a:r>
              <a:rPr lang="en-US" sz="1250" dirty="0">
                <a:solidFill>
                  <a:srgbClr val="5B6B7B"/>
                </a:solidFill>
                <a:latin typeface="Calibri" pitchFamily="34" charset="0"/>
                <a:ea typeface="Calibri" pitchFamily="34" charset="-122"/>
                <a:cs typeface="Calibri" pitchFamily="34" charset="-120"/>
              </a:rPr>
              <a:t>Binary classification of Revenue: 0 = No Purchase, 1 = Purchase, using session behaviour and context.</a:t>
            </a:r>
            <a:endParaRPr lang="en-US" sz="1250" dirty="0"/>
          </a:p>
        </p:txBody>
      </p:sp>
      <p:sp>
        <p:nvSpPr>
          <p:cNvPr id="11" name="Shape 7"/>
          <p:cNvSpPr/>
          <p:nvPr/>
        </p:nvSpPr>
        <p:spPr>
          <a:xfrm>
            <a:off x="457200" y="3520440"/>
            <a:ext cx="548640" cy="548640"/>
          </a:xfrm>
          <a:prstGeom prst="ellipse">
            <a:avLst/>
          </a:prstGeom>
          <a:solidFill>
            <a:srgbClr val="2F78B7"/>
          </a:solidFill>
          <a:ln w="12700">
            <a:solidFill>
              <a:srgbClr val="2F78B7"/>
            </a:solidFill>
            <a:prstDash val="solid"/>
          </a:ln>
        </p:spPr>
        <p:txBody>
          <a:bodyPr/>
          <a:lstStyle/>
          <a:p>
            <a:endParaRPr lang="en-NL"/>
          </a:p>
        </p:txBody>
      </p:sp>
      <p:pic>
        <p:nvPicPr>
          <p:cNvPr id="12" name="Image 2" descr="preencoded.png"/>
          <p:cNvPicPr>
            <a:picLocks noChangeAspect="1"/>
          </p:cNvPicPr>
          <p:nvPr/>
        </p:nvPicPr>
        <p:blipFill>
          <a:blip r:embed="rId5"/>
          <a:stretch>
            <a:fillRect/>
          </a:stretch>
        </p:blipFill>
        <p:spPr>
          <a:xfrm>
            <a:off x="594360" y="3657600"/>
            <a:ext cx="274320" cy="274320"/>
          </a:xfrm>
          <a:prstGeom prst="rect">
            <a:avLst/>
          </a:prstGeom>
        </p:spPr>
      </p:pic>
      <p:sp>
        <p:nvSpPr>
          <p:cNvPr id="13" name="Text 8"/>
          <p:cNvSpPr txBox="1"/>
          <p:nvPr/>
        </p:nvSpPr>
        <p:spPr>
          <a:xfrm>
            <a:off x="1188720" y="3474720"/>
            <a:ext cx="3931920" cy="292608"/>
          </a:xfrm>
          <a:prstGeom prst="rect">
            <a:avLst/>
          </a:prstGeom>
          <a:noFill/>
          <a:ln/>
        </p:spPr>
        <p:txBody>
          <a:bodyPr wrap="square" lIns="0" tIns="0" rIns="0" bIns="0" rtlCol="0" anchor="ctr"/>
          <a:lstStyle/>
          <a:p>
            <a:pPr marL="0" indent="0">
              <a:buNone/>
            </a:pPr>
            <a:r>
              <a:rPr lang="en-US" sz="1500" b="1" dirty="0">
                <a:solidFill>
                  <a:srgbClr val="1B2733"/>
                </a:solidFill>
                <a:latin typeface="Calibri" pitchFamily="34" charset="0"/>
                <a:ea typeface="Calibri" pitchFamily="34" charset="-122"/>
                <a:cs typeface="Calibri" pitchFamily="34" charset="-120"/>
              </a:rPr>
              <a:t>Objective</a:t>
            </a:r>
            <a:endParaRPr lang="en-US" sz="1500" dirty="0"/>
          </a:p>
        </p:txBody>
      </p:sp>
      <p:sp>
        <p:nvSpPr>
          <p:cNvPr id="14" name="Text 9"/>
          <p:cNvSpPr txBox="1"/>
          <p:nvPr/>
        </p:nvSpPr>
        <p:spPr>
          <a:xfrm>
            <a:off x="1188720" y="3785616"/>
            <a:ext cx="3931920" cy="685800"/>
          </a:xfrm>
          <a:prstGeom prst="rect">
            <a:avLst/>
          </a:prstGeom>
          <a:noFill/>
          <a:ln/>
        </p:spPr>
        <p:txBody>
          <a:bodyPr wrap="square" lIns="0" tIns="0" rIns="0" bIns="0" rtlCol="0" anchor="t"/>
          <a:lstStyle/>
          <a:p>
            <a:pPr marL="0" indent="0">
              <a:buNone/>
            </a:pPr>
            <a:r>
              <a:rPr lang="en-US" sz="1250" dirty="0">
                <a:solidFill>
                  <a:srgbClr val="5B6B7B"/>
                </a:solidFill>
                <a:latin typeface="Calibri" pitchFamily="34" charset="0"/>
                <a:ea typeface="Calibri" pitchFamily="34" charset="-122"/>
                <a:cs typeface="Calibri" pitchFamily="34" charset="-120"/>
              </a:rPr>
              <a:t>Estimate purchase likelihood with a tuned XGBoost model and turn it into Low / Medium / High intent segments.</a:t>
            </a:r>
            <a:endParaRPr lang="en-US" sz="1250" dirty="0"/>
          </a:p>
        </p:txBody>
      </p:sp>
      <p:sp>
        <p:nvSpPr>
          <p:cNvPr id="15" name="Shape 10"/>
          <p:cNvSpPr/>
          <p:nvPr/>
        </p:nvSpPr>
        <p:spPr>
          <a:xfrm>
            <a:off x="5486400" y="1188720"/>
            <a:ext cx="3200400" cy="3337560"/>
          </a:xfrm>
          <a:prstGeom prst="roundRect">
            <a:avLst>
              <a:gd name="adj" fmla="val 2857"/>
            </a:avLst>
          </a:prstGeom>
          <a:solidFill>
            <a:srgbClr val="10263B"/>
          </a:solidFill>
          <a:ln w="12700">
            <a:solidFill>
              <a:srgbClr val="10263B"/>
            </a:solidFill>
            <a:prstDash val="solid"/>
          </a:ln>
          <a:effectLst>
            <a:outerShdw blurRad="101600" dist="25400" dir="5400000" algn="bl" rotWithShape="0">
              <a:srgbClr val="000000">
                <a:alpha val="10000"/>
              </a:srgbClr>
            </a:outerShdw>
          </a:effectLst>
        </p:spPr>
        <p:txBody>
          <a:bodyPr/>
          <a:lstStyle/>
          <a:p>
            <a:endParaRPr lang="en-NL"/>
          </a:p>
        </p:txBody>
      </p:sp>
      <p:sp>
        <p:nvSpPr>
          <p:cNvPr id="16" name="Text 11"/>
          <p:cNvSpPr txBox="1"/>
          <p:nvPr/>
        </p:nvSpPr>
        <p:spPr>
          <a:xfrm>
            <a:off x="5760720" y="1371600"/>
            <a:ext cx="2743200" cy="274320"/>
          </a:xfrm>
          <a:prstGeom prst="rect">
            <a:avLst/>
          </a:prstGeom>
          <a:noFill/>
          <a:ln/>
        </p:spPr>
        <p:txBody>
          <a:bodyPr wrap="square" lIns="0" tIns="0" rIns="0" bIns="0" rtlCol="0" anchor="ctr"/>
          <a:lstStyle/>
          <a:p>
            <a:pPr marL="0" indent="0">
              <a:buNone/>
            </a:pPr>
            <a:r>
              <a:rPr lang="en-US" sz="1100" b="1" kern="0" spc="300" dirty="0">
                <a:solidFill>
                  <a:srgbClr val="F28C28"/>
                </a:solidFill>
                <a:latin typeface="Calibri" pitchFamily="34" charset="0"/>
                <a:ea typeface="Calibri" pitchFamily="34" charset="-122"/>
                <a:cs typeface="Calibri" pitchFamily="34" charset="-120"/>
              </a:rPr>
              <a:t>POTENTIAL IMPACT</a:t>
            </a:r>
            <a:endParaRPr lang="en-US" sz="1100" dirty="0"/>
          </a:p>
        </p:txBody>
      </p:sp>
      <p:sp>
        <p:nvSpPr>
          <p:cNvPr id="17" name="Text 12"/>
          <p:cNvSpPr txBox="1"/>
          <p:nvPr/>
        </p:nvSpPr>
        <p:spPr>
          <a:xfrm>
            <a:off x="5760720" y="1737360"/>
            <a:ext cx="2743200" cy="6400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15.65%</a:t>
            </a:r>
            <a:endParaRPr lang="en-US" sz="4000" dirty="0"/>
          </a:p>
        </p:txBody>
      </p:sp>
      <p:sp>
        <p:nvSpPr>
          <p:cNvPr id="18" name="Text 13"/>
          <p:cNvSpPr txBox="1"/>
          <p:nvPr/>
        </p:nvSpPr>
        <p:spPr>
          <a:xfrm>
            <a:off x="5760720" y="2377440"/>
            <a:ext cx="2743200" cy="320040"/>
          </a:xfrm>
          <a:prstGeom prst="rect">
            <a:avLst/>
          </a:prstGeom>
          <a:noFill/>
          <a:ln/>
        </p:spPr>
        <p:txBody>
          <a:bodyPr wrap="square" lIns="0" tIns="0" rIns="0" bIns="0" rtlCol="0" anchor="ctr"/>
          <a:lstStyle/>
          <a:p>
            <a:pPr marL="0" indent="0">
              <a:buNone/>
            </a:pPr>
            <a:r>
              <a:rPr lang="en-US" sz="1150" dirty="0">
                <a:solidFill>
                  <a:srgbClr val="CADCFC"/>
                </a:solidFill>
                <a:latin typeface="Calibri" pitchFamily="34" charset="0"/>
                <a:ea typeface="Calibri" pitchFamily="34" charset="-122"/>
                <a:cs typeface="Calibri" pitchFamily="34" charset="-120"/>
              </a:rPr>
              <a:t>purchase rate across all test sessions</a:t>
            </a:r>
            <a:endParaRPr lang="en-US" sz="1150" dirty="0"/>
          </a:p>
        </p:txBody>
      </p:sp>
      <p:sp>
        <p:nvSpPr>
          <p:cNvPr id="19" name="Text 14"/>
          <p:cNvSpPr txBox="1"/>
          <p:nvPr/>
        </p:nvSpPr>
        <p:spPr>
          <a:xfrm>
            <a:off x="5760720" y="2788920"/>
            <a:ext cx="2743200" cy="274320"/>
          </a:xfrm>
          <a:prstGeom prst="rect">
            <a:avLst/>
          </a:prstGeom>
          <a:noFill/>
          <a:ln/>
        </p:spPr>
        <p:txBody>
          <a:bodyPr wrap="square" lIns="0" tIns="0" rIns="0" bIns="0" rtlCol="0" anchor="ctr"/>
          <a:lstStyle/>
          <a:p>
            <a:pPr marL="0" indent="0">
              <a:buNone/>
            </a:pPr>
            <a:r>
              <a:rPr lang="en-US" sz="1200" i="1" dirty="0">
                <a:solidFill>
                  <a:srgbClr val="CADCFC"/>
                </a:solidFill>
                <a:latin typeface="Calibri" pitchFamily="34" charset="0"/>
                <a:ea typeface="Calibri" pitchFamily="34" charset="-122"/>
                <a:cs typeface="Calibri" pitchFamily="34" charset="-120"/>
              </a:rPr>
              <a:t>vs</a:t>
            </a:r>
            <a:endParaRPr lang="en-US" sz="1200" dirty="0"/>
          </a:p>
        </p:txBody>
      </p:sp>
      <p:sp>
        <p:nvSpPr>
          <p:cNvPr id="20" name="Text 15"/>
          <p:cNvSpPr txBox="1"/>
          <p:nvPr/>
        </p:nvSpPr>
        <p:spPr>
          <a:xfrm>
            <a:off x="5760720" y="3063240"/>
            <a:ext cx="2743200" cy="640080"/>
          </a:xfrm>
          <a:prstGeom prst="rect">
            <a:avLst/>
          </a:prstGeom>
          <a:noFill/>
          <a:ln/>
        </p:spPr>
        <p:txBody>
          <a:bodyPr wrap="square" lIns="0" tIns="0" rIns="0" bIns="0" rtlCol="0" anchor="ctr"/>
          <a:lstStyle/>
          <a:p>
            <a:pPr marL="0" indent="0">
              <a:buNone/>
            </a:pPr>
            <a:r>
              <a:rPr lang="en-US" sz="4000" b="1" dirty="0">
                <a:solidFill>
                  <a:srgbClr val="F28C28"/>
                </a:solidFill>
                <a:latin typeface="Cambria" pitchFamily="34" charset="0"/>
                <a:ea typeface="Cambria" pitchFamily="34" charset="-122"/>
                <a:cs typeface="Cambria" pitchFamily="34" charset="-120"/>
              </a:rPr>
              <a:t>65.87%</a:t>
            </a:r>
            <a:endParaRPr lang="en-US" sz="4000" dirty="0"/>
          </a:p>
        </p:txBody>
      </p:sp>
      <p:sp>
        <p:nvSpPr>
          <p:cNvPr id="21" name="Text 16"/>
          <p:cNvSpPr txBox="1"/>
          <p:nvPr/>
        </p:nvSpPr>
        <p:spPr>
          <a:xfrm>
            <a:off x="5760720" y="3703320"/>
            <a:ext cx="2743200" cy="502920"/>
          </a:xfrm>
          <a:prstGeom prst="rect">
            <a:avLst/>
          </a:prstGeom>
          <a:noFill/>
          <a:ln/>
        </p:spPr>
        <p:txBody>
          <a:bodyPr wrap="square" lIns="0" tIns="0" rIns="0" bIns="0" rtlCol="0" anchor="t"/>
          <a:lstStyle/>
          <a:p>
            <a:pPr marL="0" indent="0">
              <a:buNone/>
            </a:pPr>
            <a:r>
              <a:rPr lang="en-US" sz="1150" dirty="0">
                <a:solidFill>
                  <a:srgbClr val="CADCFC"/>
                </a:solidFill>
                <a:latin typeface="Calibri" pitchFamily="34" charset="0"/>
                <a:ea typeface="Calibri" pitchFamily="34" charset="-122"/>
                <a:cs typeface="Calibri" pitchFamily="34" charset="-120"/>
              </a:rPr>
              <a:t>purchase rate in sessions the model flags as High Intent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Data Selection &amp; Preparation</a:t>
            </a:r>
            <a:endParaRPr lang="en-US" sz="3000" dirty="0"/>
          </a:p>
        </p:txBody>
      </p:sp>
      <p:sp>
        <p:nvSpPr>
          <p:cNvPr id="3" name="Text 1"/>
          <p:cNvSpPr txBox="1"/>
          <p:nvPr/>
        </p:nvSpPr>
        <p:spPr>
          <a:xfrm>
            <a:off x="457200" y="1051560"/>
            <a:ext cx="4389120" cy="457200"/>
          </a:xfrm>
          <a:prstGeom prst="rect">
            <a:avLst/>
          </a:prstGeom>
          <a:noFill/>
          <a:ln/>
        </p:spPr>
        <p:txBody>
          <a:bodyPr wrap="square" lIns="0" tIns="0" rIns="0" bIns="0" rtlCol="0" anchor="t"/>
          <a:lstStyle/>
          <a:p>
            <a:pPr marL="0" indent="0">
              <a:buNone/>
            </a:pPr>
            <a:r>
              <a:rPr lang="en-US" sz="1150" dirty="0">
                <a:solidFill>
                  <a:srgbClr val="5B6B7B"/>
                </a:solidFill>
                <a:latin typeface="Calibri" pitchFamily="34" charset="0"/>
                <a:ea typeface="Calibri" pitchFamily="34" charset="-122"/>
                <a:cs typeface="Calibri" pitchFamily="34" charset="-120"/>
              </a:rPr>
              <a:t>UCI Online Shoppers Purchasing Intention dataset: 10 behavioural + 7 contextual features, target = Revenue.</a:t>
            </a:r>
            <a:endParaRPr lang="en-US" sz="1150" dirty="0"/>
          </a:p>
        </p:txBody>
      </p:sp>
      <p:sp>
        <p:nvSpPr>
          <p:cNvPr id="4" name="Shape 2"/>
          <p:cNvSpPr/>
          <p:nvPr/>
        </p:nvSpPr>
        <p:spPr>
          <a:xfrm>
            <a:off x="457200" y="1600200"/>
            <a:ext cx="2103120" cy="868680"/>
          </a:xfrm>
          <a:prstGeom prst="roundRect">
            <a:avLst>
              <a:gd name="adj" fmla="val 84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5" name="Text 3"/>
          <p:cNvSpPr txBox="1"/>
          <p:nvPr/>
        </p:nvSpPr>
        <p:spPr>
          <a:xfrm>
            <a:off x="640080" y="1645920"/>
            <a:ext cx="1828800" cy="502920"/>
          </a:xfrm>
          <a:prstGeom prst="rect">
            <a:avLst/>
          </a:prstGeom>
          <a:noFill/>
          <a:ln/>
        </p:spPr>
        <p:txBody>
          <a:bodyPr wrap="square" lIns="0" tIns="0" rIns="0" bIns="0" rtlCol="0" anchor="ctr"/>
          <a:lstStyle/>
          <a:p>
            <a:pPr marL="0" indent="0">
              <a:buNone/>
            </a:pPr>
            <a:r>
              <a:rPr lang="en-US" sz="2000" b="1" dirty="0">
                <a:solidFill>
                  <a:srgbClr val="2F78B7"/>
                </a:solidFill>
                <a:latin typeface="Cambria" pitchFamily="34" charset="0"/>
                <a:ea typeface="Cambria" pitchFamily="34" charset="-122"/>
                <a:cs typeface="Cambria" pitchFamily="34" charset="-120"/>
              </a:rPr>
              <a:t>12,330 × 18</a:t>
            </a:r>
            <a:endParaRPr lang="en-US" sz="2000" dirty="0"/>
          </a:p>
        </p:txBody>
      </p:sp>
      <p:sp>
        <p:nvSpPr>
          <p:cNvPr id="6" name="Text 4"/>
          <p:cNvSpPr txBox="1"/>
          <p:nvPr/>
        </p:nvSpPr>
        <p:spPr>
          <a:xfrm>
            <a:off x="640080" y="2148840"/>
            <a:ext cx="182880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raw sessions × columns</a:t>
            </a:r>
            <a:endParaRPr lang="en-US" sz="1050" dirty="0"/>
          </a:p>
        </p:txBody>
      </p:sp>
      <p:sp>
        <p:nvSpPr>
          <p:cNvPr id="7" name="Shape 5"/>
          <p:cNvSpPr/>
          <p:nvPr/>
        </p:nvSpPr>
        <p:spPr>
          <a:xfrm>
            <a:off x="2743200" y="1600200"/>
            <a:ext cx="2103120" cy="868680"/>
          </a:xfrm>
          <a:prstGeom prst="roundRect">
            <a:avLst>
              <a:gd name="adj" fmla="val 84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8" name="Text 6"/>
          <p:cNvSpPr txBox="1"/>
          <p:nvPr/>
        </p:nvSpPr>
        <p:spPr>
          <a:xfrm>
            <a:off x="2926080" y="1645920"/>
            <a:ext cx="1828800" cy="502920"/>
          </a:xfrm>
          <a:prstGeom prst="rect">
            <a:avLst/>
          </a:prstGeom>
          <a:noFill/>
          <a:ln/>
        </p:spPr>
        <p:txBody>
          <a:bodyPr wrap="square" lIns="0" tIns="0" rIns="0" bIns="0" rtlCol="0" anchor="ctr"/>
          <a:lstStyle/>
          <a:p>
            <a:pPr marL="0" indent="0">
              <a:buNone/>
            </a:pPr>
            <a:r>
              <a:rPr lang="en-US" sz="2000" b="1" dirty="0">
                <a:solidFill>
                  <a:srgbClr val="F28C28"/>
                </a:solidFill>
                <a:latin typeface="Cambria" pitchFamily="34" charset="0"/>
                <a:ea typeface="Cambria" pitchFamily="34" charset="-122"/>
                <a:cs typeface="Cambria" pitchFamily="34" charset="-120"/>
              </a:rPr>
              <a:t>12,205</a:t>
            </a:r>
            <a:endParaRPr lang="en-US" sz="2000" dirty="0"/>
          </a:p>
        </p:txBody>
      </p:sp>
      <p:sp>
        <p:nvSpPr>
          <p:cNvPr id="9" name="Text 7"/>
          <p:cNvSpPr txBox="1"/>
          <p:nvPr/>
        </p:nvSpPr>
        <p:spPr>
          <a:xfrm>
            <a:off x="2926080" y="2148840"/>
            <a:ext cx="182880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sessions after cleaning</a:t>
            </a:r>
            <a:endParaRPr lang="en-US" sz="1050" dirty="0"/>
          </a:p>
        </p:txBody>
      </p:sp>
      <p:sp>
        <p:nvSpPr>
          <p:cNvPr id="10" name="Text 8"/>
          <p:cNvSpPr txBox="1"/>
          <p:nvPr/>
        </p:nvSpPr>
        <p:spPr>
          <a:xfrm>
            <a:off x="457200" y="2679192"/>
            <a:ext cx="329184" cy="329184"/>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1" name="Text 9"/>
          <p:cNvSpPr txBox="1"/>
          <p:nvPr/>
        </p:nvSpPr>
        <p:spPr>
          <a:xfrm>
            <a:off x="914400" y="2651760"/>
            <a:ext cx="3931920" cy="411480"/>
          </a:xfrm>
          <a:prstGeom prst="rect">
            <a:avLst/>
          </a:prstGeom>
          <a:noFill/>
          <a:ln/>
        </p:spPr>
        <p:txBody>
          <a:bodyPr wrap="square" lIns="0" tIns="0" rIns="0" bIns="0" rtlCol="0" anchor="ctr"/>
          <a:lstStyle/>
          <a:p>
            <a:pPr marL="0" indent="0">
              <a:buNone/>
            </a:pPr>
            <a:r>
              <a:rPr lang="en-US" sz="1150" dirty="0">
                <a:solidFill>
                  <a:srgbClr val="1B2733"/>
                </a:solidFill>
                <a:latin typeface="Calibri" pitchFamily="34" charset="0"/>
                <a:ea typeface="Calibri" pitchFamily="34" charset="-122"/>
                <a:cs typeface="Calibri" pitchFamily="34" charset="-120"/>
              </a:rPr>
              <a:t>No missing values in any of the 18 columns</a:t>
            </a:r>
            <a:endParaRPr lang="en-US" sz="1150" dirty="0"/>
          </a:p>
        </p:txBody>
      </p:sp>
      <p:sp>
        <p:nvSpPr>
          <p:cNvPr id="12" name="Text 10"/>
          <p:cNvSpPr txBox="1"/>
          <p:nvPr/>
        </p:nvSpPr>
        <p:spPr>
          <a:xfrm>
            <a:off x="457200" y="3154680"/>
            <a:ext cx="329184" cy="329184"/>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txBox="1"/>
          <p:nvPr/>
        </p:nvSpPr>
        <p:spPr>
          <a:xfrm>
            <a:off x="914400" y="3127248"/>
            <a:ext cx="3931920" cy="411480"/>
          </a:xfrm>
          <a:prstGeom prst="rect">
            <a:avLst/>
          </a:prstGeom>
          <a:noFill/>
          <a:ln/>
        </p:spPr>
        <p:txBody>
          <a:bodyPr wrap="square" lIns="0" tIns="0" rIns="0" bIns="0" rtlCol="0" anchor="ctr"/>
          <a:lstStyle/>
          <a:p>
            <a:pPr marL="0" indent="0">
              <a:buNone/>
            </a:pPr>
            <a:r>
              <a:rPr lang="en-US" sz="1150" dirty="0">
                <a:solidFill>
                  <a:srgbClr val="1B2733"/>
                </a:solidFill>
                <a:latin typeface="Calibri" pitchFamily="34" charset="0"/>
                <a:ea typeface="Calibri" pitchFamily="34" charset="-122"/>
                <a:cs typeface="Calibri" pitchFamily="34" charset="-120"/>
              </a:rPr>
              <a:t>Removed 125 exact duplicate rows</a:t>
            </a:r>
            <a:endParaRPr lang="en-US" sz="1150" dirty="0"/>
          </a:p>
        </p:txBody>
      </p:sp>
      <p:sp>
        <p:nvSpPr>
          <p:cNvPr id="14" name="Text 12"/>
          <p:cNvSpPr txBox="1"/>
          <p:nvPr/>
        </p:nvSpPr>
        <p:spPr>
          <a:xfrm>
            <a:off x="457200" y="3630168"/>
            <a:ext cx="329184" cy="329184"/>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txBox="1"/>
          <p:nvPr/>
        </p:nvSpPr>
        <p:spPr>
          <a:xfrm>
            <a:off x="914400" y="3602736"/>
            <a:ext cx="3931920" cy="411480"/>
          </a:xfrm>
          <a:prstGeom prst="rect">
            <a:avLst/>
          </a:prstGeom>
          <a:noFill/>
          <a:ln/>
        </p:spPr>
        <p:txBody>
          <a:bodyPr wrap="square" lIns="0" tIns="0" rIns="0" bIns="0" rtlCol="0" anchor="ctr"/>
          <a:lstStyle/>
          <a:p>
            <a:pPr marL="0" indent="0">
              <a:buNone/>
            </a:pPr>
            <a:r>
              <a:rPr lang="en-US" sz="1150" dirty="0">
                <a:solidFill>
                  <a:srgbClr val="1B2733"/>
                </a:solidFill>
                <a:latin typeface="Calibri" pitchFamily="34" charset="0"/>
                <a:ea typeface="Calibri" pitchFamily="34" charset="-122"/>
                <a:cs typeface="Calibri" pitchFamily="34" charset="-120"/>
              </a:rPr>
              <a:t>OperatingSystems, Browser, Region, TrafficType are integer codes, so treated as categories</a:t>
            </a:r>
            <a:endParaRPr lang="en-US" sz="1150" dirty="0"/>
          </a:p>
        </p:txBody>
      </p:sp>
      <p:sp>
        <p:nvSpPr>
          <p:cNvPr id="16" name="Text 14"/>
          <p:cNvSpPr txBox="1"/>
          <p:nvPr/>
        </p:nvSpPr>
        <p:spPr>
          <a:xfrm>
            <a:off x="457200" y="4105656"/>
            <a:ext cx="329184" cy="329184"/>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5"/>
          <p:cNvSpPr txBox="1"/>
          <p:nvPr/>
        </p:nvSpPr>
        <p:spPr>
          <a:xfrm>
            <a:off x="914400" y="4078224"/>
            <a:ext cx="3931920" cy="411480"/>
          </a:xfrm>
          <a:prstGeom prst="rect">
            <a:avLst/>
          </a:prstGeom>
          <a:noFill/>
          <a:ln/>
        </p:spPr>
        <p:txBody>
          <a:bodyPr wrap="square" lIns="0" tIns="0" rIns="0" bIns="0" rtlCol="0" anchor="ctr"/>
          <a:lstStyle/>
          <a:p>
            <a:pPr marL="0" indent="0">
              <a:buNone/>
            </a:pPr>
            <a:r>
              <a:rPr lang="en-US" sz="1150" dirty="0">
                <a:solidFill>
                  <a:srgbClr val="1B2733"/>
                </a:solidFill>
                <a:latin typeface="Calibri" pitchFamily="34" charset="0"/>
                <a:ea typeface="Calibri" pitchFamily="34" charset="-122"/>
                <a:cs typeface="Calibri" pitchFamily="34" charset="-120"/>
              </a:rPr>
              <a:t>Stratified 80/20 split: 9,764 train / 2,441 test (15.63% vs 15.65% purchases)</a:t>
            </a:r>
            <a:endParaRPr lang="en-US" sz="1150" dirty="0"/>
          </a:p>
        </p:txBody>
      </p:sp>
      <p:sp>
        <p:nvSpPr>
          <p:cNvPr id="18" name="Shape 16"/>
          <p:cNvSpPr/>
          <p:nvPr/>
        </p:nvSpPr>
        <p:spPr>
          <a:xfrm>
            <a:off x="5120640" y="1143000"/>
            <a:ext cx="3566160" cy="3429000"/>
          </a:xfrm>
          <a:prstGeom prst="roundRect">
            <a:avLst>
              <a:gd name="adj" fmla="val 213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19" name="Image 0" descr="/home/claude/deck/img/target_dist.png"/>
          <p:cNvPicPr>
            <a:picLocks noChangeAspect="1"/>
          </p:cNvPicPr>
          <p:nvPr/>
        </p:nvPicPr>
        <p:blipFill>
          <a:blip r:embed="rId3"/>
          <a:stretch>
            <a:fillRect/>
          </a:stretch>
        </p:blipFill>
        <p:spPr>
          <a:xfrm>
            <a:off x="5288280" y="1234440"/>
            <a:ext cx="3230880" cy="2377440"/>
          </a:xfrm>
          <a:prstGeom prst="rect">
            <a:avLst/>
          </a:prstGeom>
        </p:spPr>
      </p:pic>
      <p:sp>
        <p:nvSpPr>
          <p:cNvPr id="20" name="Text 17"/>
          <p:cNvSpPr txBox="1"/>
          <p:nvPr/>
        </p:nvSpPr>
        <p:spPr>
          <a:xfrm>
            <a:off x="5303520" y="3703320"/>
            <a:ext cx="3200400" cy="777240"/>
          </a:xfrm>
          <a:prstGeom prst="rect">
            <a:avLst/>
          </a:prstGeom>
          <a:noFill/>
          <a:ln/>
        </p:spPr>
        <p:txBody>
          <a:bodyPr wrap="square" lIns="0" tIns="0" rIns="0" bIns="0" rtlCol="0" anchor="t"/>
          <a:lstStyle/>
          <a:p>
            <a:pPr marL="0" indent="0">
              <a:buNone/>
            </a:pPr>
            <a:r>
              <a:rPr lang="en-US" sz="1100" dirty="0">
                <a:solidFill>
                  <a:srgbClr val="1B2733"/>
                </a:solidFill>
                <a:latin typeface="Calibri" pitchFamily="34" charset="0"/>
                <a:ea typeface="Calibri" pitchFamily="34" charset="-122"/>
                <a:cs typeface="Calibri" pitchFamily="34" charset="-120"/>
              </a:rPr>
              <a:t>84.4% of sessions end without a purchase. Accuracy alone is misleading, so precision, recall, F1 and ROC-AUC are tracked.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Feature Engineering &amp; EDA Insights</a:t>
            </a:r>
            <a:endParaRPr lang="en-US" sz="3000" dirty="0"/>
          </a:p>
        </p:txBody>
      </p:sp>
      <p:sp>
        <p:nvSpPr>
          <p:cNvPr id="3" name="Shape 1"/>
          <p:cNvSpPr/>
          <p:nvPr/>
        </p:nvSpPr>
        <p:spPr>
          <a:xfrm>
            <a:off x="457200" y="1005840"/>
            <a:ext cx="1691640" cy="658368"/>
          </a:xfrm>
          <a:prstGeom prst="roundRect">
            <a:avLst>
              <a:gd name="adj" fmla="val 1111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4" name="Text 2"/>
          <p:cNvSpPr txBox="1"/>
          <p:nvPr/>
        </p:nvSpPr>
        <p:spPr>
          <a:xfrm>
            <a:off x="566928" y="1005840"/>
            <a:ext cx="685800" cy="658368"/>
          </a:xfrm>
          <a:prstGeom prst="rect">
            <a:avLst/>
          </a:prstGeom>
          <a:noFill/>
          <a:ln/>
        </p:spPr>
        <p:txBody>
          <a:bodyPr wrap="square" lIns="0" tIns="0" rIns="0" bIns="0" rtlCol="0" anchor="ctr"/>
          <a:lstStyle/>
          <a:p>
            <a:pPr marL="0" indent="0">
              <a:buNone/>
            </a:pPr>
            <a:r>
              <a:rPr lang="en-US" sz="2400" b="1" dirty="0">
                <a:solidFill>
                  <a:srgbClr val="2F78B7"/>
                </a:solidFill>
                <a:latin typeface="Cambria" pitchFamily="34" charset="0"/>
                <a:ea typeface="Cambria" pitchFamily="34" charset="-122"/>
                <a:cs typeface="Cambria" pitchFamily="34" charset="-120"/>
              </a:rPr>
              <a:t>17</a:t>
            </a:r>
            <a:endParaRPr lang="en-US" sz="2400" dirty="0"/>
          </a:p>
        </p:txBody>
      </p:sp>
      <p:sp>
        <p:nvSpPr>
          <p:cNvPr id="5" name="Text 3"/>
          <p:cNvSpPr txBox="1"/>
          <p:nvPr/>
        </p:nvSpPr>
        <p:spPr>
          <a:xfrm>
            <a:off x="1234440" y="1005840"/>
            <a:ext cx="868680" cy="658368"/>
          </a:xfrm>
          <a:prstGeom prst="rect">
            <a:avLst/>
          </a:prstGeom>
          <a:noFill/>
          <a:ln/>
        </p:spPr>
        <p:txBody>
          <a:bodyPr wrap="square" lIns="0" tIns="0" rIns="0" bIns="0" rtlCol="0" anchor="ctr"/>
          <a:lstStyle/>
          <a:p>
            <a:pPr marL="0" indent="0">
              <a:buNone/>
            </a:pPr>
            <a:r>
              <a:rPr lang="en-US" sz="950" dirty="0">
                <a:solidFill>
                  <a:srgbClr val="5B6B7B"/>
                </a:solidFill>
                <a:latin typeface="Calibri" pitchFamily="34" charset="0"/>
                <a:ea typeface="Calibri" pitchFamily="34" charset="-122"/>
                <a:cs typeface="Calibri" pitchFamily="34" charset="-120"/>
              </a:rPr>
              <a:t>original features</a:t>
            </a:r>
            <a:endParaRPr lang="en-US" sz="950" dirty="0"/>
          </a:p>
        </p:txBody>
      </p:sp>
      <p:sp>
        <p:nvSpPr>
          <p:cNvPr id="6" name="Text 4"/>
          <p:cNvSpPr txBox="1"/>
          <p:nvPr/>
        </p:nvSpPr>
        <p:spPr>
          <a:xfrm>
            <a:off x="2148840" y="1051560"/>
            <a:ext cx="484632" cy="566928"/>
          </a:xfrm>
          <a:prstGeom prst="rect">
            <a:avLst/>
          </a:prstGeom>
          <a:noFill/>
          <a:ln/>
        </p:spPr>
        <p:txBody>
          <a:bodyPr wrap="square" lIns="0" tIns="0" rIns="0" bIns="0" rtlCol="0" anchor="ctr"/>
          <a:lstStyle/>
          <a:p>
            <a:pPr marL="0" indent="0" algn="ctr">
              <a:buNone/>
            </a:pPr>
            <a:r>
              <a:rPr lang="en-US" sz="2000" b="1" dirty="0">
                <a:solidFill>
                  <a:srgbClr val="5B6B7B"/>
                </a:solidFill>
                <a:latin typeface="Cambria" pitchFamily="34" charset="0"/>
                <a:ea typeface="Cambria" pitchFamily="34" charset="-122"/>
                <a:cs typeface="Cambria" pitchFamily="34" charset="-120"/>
              </a:rPr>
              <a:t>+</a:t>
            </a:r>
            <a:endParaRPr lang="en-US" sz="2000" dirty="0"/>
          </a:p>
        </p:txBody>
      </p:sp>
      <p:sp>
        <p:nvSpPr>
          <p:cNvPr id="7" name="Shape 5"/>
          <p:cNvSpPr/>
          <p:nvPr/>
        </p:nvSpPr>
        <p:spPr>
          <a:xfrm>
            <a:off x="2633472" y="1005840"/>
            <a:ext cx="1691640" cy="658368"/>
          </a:xfrm>
          <a:prstGeom prst="roundRect">
            <a:avLst>
              <a:gd name="adj" fmla="val 1111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8" name="Text 6"/>
          <p:cNvSpPr txBox="1"/>
          <p:nvPr/>
        </p:nvSpPr>
        <p:spPr>
          <a:xfrm>
            <a:off x="2743200" y="1005840"/>
            <a:ext cx="685800" cy="658368"/>
          </a:xfrm>
          <a:prstGeom prst="rect">
            <a:avLst/>
          </a:prstGeom>
          <a:noFill/>
          <a:ln/>
        </p:spPr>
        <p:txBody>
          <a:bodyPr wrap="square" lIns="0" tIns="0" rIns="0" bIns="0" rtlCol="0" anchor="ctr"/>
          <a:lstStyle/>
          <a:p>
            <a:pPr marL="0" indent="0">
              <a:buNone/>
            </a:pPr>
            <a:r>
              <a:rPr lang="en-US" sz="2400" b="1" dirty="0">
                <a:solidFill>
                  <a:srgbClr val="F28C28"/>
                </a:solidFill>
                <a:latin typeface="Cambria" pitchFamily="34" charset="0"/>
                <a:ea typeface="Cambria" pitchFamily="34" charset="-122"/>
                <a:cs typeface="Cambria" pitchFamily="34" charset="-120"/>
              </a:rPr>
              <a:t>13</a:t>
            </a:r>
            <a:endParaRPr lang="en-US" sz="2400" dirty="0"/>
          </a:p>
        </p:txBody>
      </p:sp>
      <p:sp>
        <p:nvSpPr>
          <p:cNvPr id="9" name="Text 7"/>
          <p:cNvSpPr txBox="1"/>
          <p:nvPr/>
        </p:nvSpPr>
        <p:spPr>
          <a:xfrm>
            <a:off x="3410712" y="1005840"/>
            <a:ext cx="868680" cy="658368"/>
          </a:xfrm>
          <a:prstGeom prst="rect">
            <a:avLst/>
          </a:prstGeom>
          <a:noFill/>
          <a:ln/>
        </p:spPr>
        <p:txBody>
          <a:bodyPr wrap="square" lIns="0" tIns="0" rIns="0" bIns="0" rtlCol="0" anchor="ctr"/>
          <a:lstStyle/>
          <a:p>
            <a:pPr marL="0" indent="0">
              <a:buNone/>
            </a:pPr>
            <a:r>
              <a:rPr lang="en-US" sz="950" dirty="0">
                <a:solidFill>
                  <a:srgbClr val="5B6B7B"/>
                </a:solidFill>
                <a:latin typeface="Calibri" pitchFamily="34" charset="0"/>
                <a:ea typeface="Calibri" pitchFamily="34" charset="-122"/>
                <a:cs typeface="Calibri" pitchFamily="34" charset="-120"/>
              </a:rPr>
              <a:t>engineered features</a:t>
            </a:r>
            <a:endParaRPr lang="en-US" sz="950" dirty="0"/>
          </a:p>
        </p:txBody>
      </p:sp>
      <p:sp>
        <p:nvSpPr>
          <p:cNvPr id="10" name="Text 8"/>
          <p:cNvSpPr txBox="1"/>
          <p:nvPr/>
        </p:nvSpPr>
        <p:spPr>
          <a:xfrm>
            <a:off x="4325112" y="1051560"/>
            <a:ext cx="484632" cy="566928"/>
          </a:xfrm>
          <a:prstGeom prst="rect">
            <a:avLst/>
          </a:prstGeom>
          <a:noFill/>
          <a:ln/>
        </p:spPr>
        <p:txBody>
          <a:bodyPr wrap="square" lIns="0" tIns="0" rIns="0" bIns="0" rtlCol="0" anchor="ctr"/>
          <a:lstStyle/>
          <a:p>
            <a:pPr marL="0" indent="0" algn="ctr">
              <a:buNone/>
            </a:pPr>
            <a:r>
              <a:rPr lang="en-US" sz="2000" b="1" dirty="0">
                <a:solidFill>
                  <a:srgbClr val="5B6B7B"/>
                </a:solidFill>
                <a:latin typeface="Cambria" pitchFamily="34" charset="0"/>
                <a:ea typeface="Cambria" pitchFamily="34" charset="-122"/>
                <a:cs typeface="Cambria" pitchFamily="34" charset="-120"/>
              </a:rPr>
              <a:t>=</a:t>
            </a:r>
            <a:endParaRPr lang="en-US" sz="2000" dirty="0"/>
          </a:p>
        </p:txBody>
      </p:sp>
      <p:sp>
        <p:nvSpPr>
          <p:cNvPr id="11" name="Shape 9"/>
          <p:cNvSpPr/>
          <p:nvPr/>
        </p:nvSpPr>
        <p:spPr>
          <a:xfrm>
            <a:off x="4809744" y="1005840"/>
            <a:ext cx="1691640" cy="658368"/>
          </a:xfrm>
          <a:prstGeom prst="roundRect">
            <a:avLst>
              <a:gd name="adj" fmla="val 1111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2" name="Text 10"/>
          <p:cNvSpPr txBox="1"/>
          <p:nvPr/>
        </p:nvSpPr>
        <p:spPr>
          <a:xfrm>
            <a:off x="4919472" y="1005840"/>
            <a:ext cx="685800" cy="658368"/>
          </a:xfrm>
          <a:prstGeom prst="rect">
            <a:avLst/>
          </a:prstGeom>
          <a:noFill/>
          <a:ln/>
        </p:spPr>
        <p:txBody>
          <a:bodyPr wrap="square" lIns="0" tIns="0" rIns="0" bIns="0" rtlCol="0" anchor="ctr"/>
          <a:lstStyle/>
          <a:p>
            <a:pPr marL="0" indent="0">
              <a:buNone/>
            </a:pPr>
            <a:r>
              <a:rPr lang="en-US" sz="2400" b="1" dirty="0">
                <a:solidFill>
                  <a:srgbClr val="10263B"/>
                </a:solidFill>
                <a:latin typeface="Cambria" pitchFamily="34" charset="0"/>
                <a:ea typeface="Cambria" pitchFamily="34" charset="-122"/>
                <a:cs typeface="Cambria" pitchFamily="34" charset="-120"/>
              </a:rPr>
              <a:t>30</a:t>
            </a:r>
            <a:endParaRPr lang="en-US" sz="2400" dirty="0"/>
          </a:p>
        </p:txBody>
      </p:sp>
      <p:sp>
        <p:nvSpPr>
          <p:cNvPr id="13" name="Text 11"/>
          <p:cNvSpPr txBox="1"/>
          <p:nvPr/>
        </p:nvSpPr>
        <p:spPr>
          <a:xfrm>
            <a:off x="5586984" y="1005840"/>
            <a:ext cx="868680" cy="658368"/>
          </a:xfrm>
          <a:prstGeom prst="rect">
            <a:avLst/>
          </a:prstGeom>
          <a:noFill/>
          <a:ln/>
        </p:spPr>
        <p:txBody>
          <a:bodyPr wrap="square" lIns="0" tIns="0" rIns="0" bIns="0" rtlCol="0" anchor="ctr"/>
          <a:lstStyle/>
          <a:p>
            <a:pPr marL="0" indent="0">
              <a:buNone/>
            </a:pPr>
            <a:r>
              <a:rPr lang="en-US" sz="950" dirty="0">
                <a:solidFill>
                  <a:srgbClr val="5B6B7B"/>
                </a:solidFill>
                <a:latin typeface="Calibri" pitchFamily="34" charset="0"/>
                <a:ea typeface="Calibri" pitchFamily="34" charset="-122"/>
                <a:cs typeface="Calibri" pitchFamily="34" charset="-120"/>
              </a:rPr>
              <a:t>predictors</a:t>
            </a:r>
            <a:endParaRPr lang="en-US" sz="950" dirty="0"/>
          </a:p>
        </p:txBody>
      </p:sp>
      <p:sp>
        <p:nvSpPr>
          <p:cNvPr id="14" name="Text 12"/>
          <p:cNvSpPr txBox="1"/>
          <p:nvPr/>
        </p:nvSpPr>
        <p:spPr>
          <a:xfrm>
            <a:off x="6501384" y="1051560"/>
            <a:ext cx="484632" cy="566928"/>
          </a:xfrm>
          <a:prstGeom prst="rect">
            <a:avLst/>
          </a:prstGeom>
          <a:noFill/>
          <a:ln/>
        </p:spPr>
        <p:txBody>
          <a:bodyPr wrap="square" lIns="0" tIns="0" rIns="0" bIns="0" rtlCol="0" anchor="ctr"/>
          <a:lstStyle/>
          <a:p>
            <a:pPr marL="0" indent="0" algn="ctr">
              <a:buNone/>
            </a:pPr>
            <a:r>
              <a:rPr lang="en-US" sz="2000" b="1" dirty="0">
                <a:solidFill>
                  <a:srgbClr val="5B6B7B"/>
                </a:solidFill>
                <a:latin typeface="Cambria" pitchFamily="34" charset="0"/>
                <a:ea typeface="Cambria" pitchFamily="34" charset="-122"/>
                <a:cs typeface="Cambria" pitchFamily="34" charset="-120"/>
              </a:rPr>
              <a:t>→</a:t>
            </a:r>
            <a:endParaRPr lang="en-US" sz="2000" dirty="0"/>
          </a:p>
        </p:txBody>
      </p:sp>
      <p:sp>
        <p:nvSpPr>
          <p:cNvPr id="15" name="Shape 13"/>
          <p:cNvSpPr/>
          <p:nvPr/>
        </p:nvSpPr>
        <p:spPr>
          <a:xfrm>
            <a:off x="6986016" y="1005840"/>
            <a:ext cx="1691640" cy="658368"/>
          </a:xfrm>
          <a:prstGeom prst="roundRect">
            <a:avLst>
              <a:gd name="adj" fmla="val 1111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6" name="Text 14"/>
          <p:cNvSpPr txBox="1"/>
          <p:nvPr/>
        </p:nvSpPr>
        <p:spPr>
          <a:xfrm>
            <a:off x="7095744" y="1005840"/>
            <a:ext cx="685800" cy="658368"/>
          </a:xfrm>
          <a:prstGeom prst="rect">
            <a:avLst/>
          </a:prstGeom>
          <a:noFill/>
          <a:ln/>
        </p:spPr>
        <p:txBody>
          <a:bodyPr wrap="square" lIns="0" tIns="0" rIns="0" bIns="0" rtlCol="0" anchor="ctr"/>
          <a:lstStyle/>
          <a:p>
            <a:pPr marL="0" indent="0">
              <a:buNone/>
            </a:pPr>
            <a:r>
              <a:rPr lang="en-US" sz="2400" b="1" dirty="0">
                <a:solidFill>
                  <a:srgbClr val="1F8A8A"/>
                </a:solidFill>
                <a:latin typeface="Cambria" pitchFamily="34" charset="0"/>
                <a:ea typeface="Cambria" pitchFamily="34" charset="-122"/>
                <a:cs typeface="Cambria" pitchFamily="34" charset="-120"/>
              </a:rPr>
              <a:t>87</a:t>
            </a:r>
            <a:endParaRPr lang="en-US" sz="2400" dirty="0"/>
          </a:p>
        </p:txBody>
      </p:sp>
      <p:sp>
        <p:nvSpPr>
          <p:cNvPr id="17" name="Text 15"/>
          <p:cNvSpPr txBox="1"/>
          <p:nvPr/>
        </p:nvSpPr>
        <p:spPr>
          <a:xfrm>
            <a:off x="7763256" y="1005840"/>
            <a:ext cx="868680" cy="658368"/>
          </a:xfrm>
          <a:prstGeom prst="rect">
            <a:avLst/>
          </a:prstGeom>
          <a:noFill/>
          <a:ln/>
        </p:spPr>
        <p:txBody>
          <a:bodyPr wrap="square" lIns="0" tIns="0" rIns="0" bIns="0" rtlCol="0" anchor="ctr"/>
          <a:lstStyle/>
          <a:p>
            <a:pPr marL="0" indent="0">
              <a:buNone/>
            </a:pPr>
            <a:r>
              <a:rPr lang="en-US" sz="950" dirty="0">
                <a:solidFill>
                  <a:srgbClr val="5B6B7B"/>
                </a:solidFill>
                <a:latin typeface="Calibri" pitchFamily="34" charset="0"/>
                <a:ea typeface="Calibri" pitchFamily="34" charset="-122"/>
                <a:cs typeface="Calibri" pitchFamily="34" charset="-120"/>
              </a:rPr>
              <a:t>after one-hot encoding</a:t>
            </a:r>
            <a:endParaRPr lang="en-US" sz="950" dirty="0"/>
          </a:p>
        </p:txBody>
      </p:sp>
      <p:sp>
        <p:nvSpPr>
          <p:cNvPr id="18" name="Shape 16"/>
          <p:cNvSpPr/>
          <p:nvPr/>
        </p:nvSpPr>
        <p:spPr>
          <a:xfrm>
            <a:off x="457200" y="1828800"/>
            <a:ext cx="2011680" cy="603504"/>
          </a:xfrm>
          <a:prstGeom prst="roundRect">
            <a:avLst>
              <a:gd name="adj" fmla="val 121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9" name="Text 17"/>
          <p:cNvSpPr txBox="1"/>
          <p:nvPr/>
        </p:nvSpPr>
        <p:spPr>
          <a:xfrm>
            <a:off x="548640" y="1865376"/>
            <a:ext cx="1828800" cy="182880"/>
          </a:xfrm>
          <a:prstGeom prst="rect">
            <a:avLst/>
          </a:prstGeom>
          <a:noFill/>
          <a:ln/>
        </p:spPr>
        <p:txBody>
          <a:bodyPr wrap="square" lIns="0" tIns="0" rIns="0" bIns="0" rtlCol="0" anchor="ctr"/>
          <a:lstStyle/>
          <a:p>
            <a:pPr marL="0" indent="0">
              <a:buNone/>
            </a:pPr>
            <a:r>
              <a:rPr lang="en-US" sz="950" b="1" dirty="0">
                <a:solidFill>
                  <a:srgbClr val="2F78B7"/>
                </a:solidFill>
                <a:latin typeface="Calibri" pitchFamily="34" charset="0"/>
                <a:ea typeface="Calibri" pitchFamily="34" charset="-122"/>
                <a:cs typeface="Calibri" pitchFamily="34" charset="-120"/>
              </a:rPr>
              <a:t>Session engagement</a:t>
            </a:r>
            <a:endParaRPr lang="en-US" sz="950" dirty="0"/>
          </a:p>
        </p:txBody>
      </p:sp>
      <p:sp>
        <p:nvSpPr>
          <p:cNvPr id="20" name="Text 18"/>
          <p:cNvSpPr txBox="1"/>
          <p:nvPr/>
        </p:nvSpPr>
        <p:spPr>
          <a:xfrm>
            <a:off x="548640" y="2048256"/>
            <a:ext cx="1828800" cy="365760"/>
          </a:xfrm>
          <a:prstGeom prst="rect">
            <a:avLst/>
          </a:prstGeom>
          <a:noFill/>
          <a:ln/>
        </p:spPr>
        <p:txBody>
          <a:bodyPr wrap="square" lIns="0" tIns="0" rIns="0" bIns="0" rtlCol="0" anchor="t"/>
          <a:lstStyle/>
          <a:p>
            <a:pPr marL="0" indent="0">
              <a:buNone/>
            </a:pPr>
            <a:r>
              <a:rPr lang="en-US" sz="950" dirty="0">
                <a:solidFill>
                  <a:srgbClr val="1B2733"/>
                </a:solidFill>
                <a:latin typeface="Calibri" pitchFamily="34" charset="0"/>
                <a:ea typeface="Calibri" pitchFamily="34" charset="-122"/>
                <a:cs typeface="Calibri" pitchFamily="34" charset="-120"/>
              </a:rPr>
              <a:t>TotalPages, TotalDuration</a:t>
            </a:r>
            <a:endParaRPr lang="en-US" sz="950" dirty="0"/>
          </a:p>
        </p:txBody>
      </p:sp>
      <p:sp>
        <p:nvSpPr>
          <p:cNvPr id="21" name="Shape 19"/>
          <p:cNvSpPr/>
          <p:nvPr/>
        </p:nvSpPr>
        <p:spPr>
          <a:xfrm>
            <a:off x="2560320" y="1828800"/>
            <a:ext cx="2011680" cy="603504"/>
          </a:xfrm>
          <a:prstGeom prst="roundRect">
            <a:avLst>
              <a:gd name="adj" fmla="val 121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22" name="Text 20"/>
          <p:cNvSpPr txBox="1"/>
          <p:nvPr/>
        </p:nvSpPr>
        <p:spPr>
          <a:xfrm>
            <a:off x="2651760" y="1865376"/>
            <a:ext cx="1828800" cy="182880"/>
          </a:xfrm>
          <a:prstGeom prst="rect">
            <a:avLst/>
          </a:prstGeom>
          <a:noFill/>
          <a:ln/>
        </p:spPr>
        <p:txBody>
          <a:bodyPr wrap="square" lIns="0" tIns="0" rIns="0" bIns="0" rtlCol="0" anchor="ctr"/>
          <a:lstStyle/>
          <a:p>
            <a:pPr marL="0" indent="0">
              <a:buNone/>
            </a:pPr>
            <a:r>
              <a:rPr lang="en-US" sz="950" b="1" dirty="0">
                <a:solidFill>
                  <a:srgbClr val="2F78B7"/>
                </a:solidFill>
                <a:latin typeface="Calibri" pitchFamily="34" charset="0"/>
                <a:ea typeface="Calibri" pitchFamily="34" charset="-122"/>
                <a:cs typeface="Calibri" pitchFamily="34" charset="-120"/>
              </a:rPr>
              <a:t>Product focus</a:t>
            </a:r>
            <a:endParaRPr lang="en-US" sz="950" dirty="0"/>
          </a:p>
        </p:txBody>
      </p:sp>
      <p:sp>
        <p:nvSpPr>
          <p:cNvPr id="23" name="Text 21"/>
          <p:cNvSpPr txBox="1"/>
          <p:nvPr/>
        </p:nvSpPr>
        <p:spPr>
          <a:xfrm>
            <a:off x="2651760" y="2048256"/>
            <a:ext cx="1828800" cy="365760"/>
          </a:xfrm>
          <a:prstGeom prst="rect">
            <a:avLst/>
          </a:prstGeom>
          <a:noFill/>
          <a:ln/>
        </p:spPr>
        <p:txBody>
          <a:bodyPr wrap="square" lIns="0" tIns="0" rIns="0" bIns="0" rtlCol="0" anchor="t"/>
          <a:lstStyle/>
          <a:p>
            <a:pPr marL="0" indent="0">
              <a:buNone/>
            </a:pPr>
            <a:r>
              <a:rPr lang="en-US" sz="950" dirty="0">
                <a:solidFill>
                  <a:srgbClr val="1B2733"/>
                </a:solidFill>
                <a:latin typeface="Calibri" pitchFamily="34" charset="0"/>
                <a:ea typeface="Calibri" pitchFamily="34" charset="-122"/>
                <a:cs typeface="Calibri" pitchFamily="34" charset="-120"/>
              </a:rPr>
              <a:t>ProductPageShare, ProductDurationShare</a:t>
            </a:r>
            <a:endParaRPr lang="en-US" sz="950" dirty="0"/>
          </a:p>
        </p:txBody>
      </p:sp>
      <p:sp>
        <p:nvSpPr>
          <p:cNvPr id="24" name="Shape 22"/>
          <p:cNvSpPr/>
          <p:nvPr/>
        </p:nvSpPr>
        <p:spPr>
          <a:xfrm>
            <a:off x="457200" y="2496312"/>
            <a:ext cx="2011680" cy="603504"/>
          </a:xfrm>
          <a:prstGeom prst="roundRect">
            <a:avLst>
              <a:gd name="adj" fmla="val 121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25" name="Text 23"/>
          <p:cNvSpPr txBox="1"/>
          <p:nvPr/>
        </p:nvSpPr>
        <p:spPr>
          <a:xfrm>
            <a:off x="548640" y="2532888"/>
            <a:ext cx="1828800" cy="182880"/>
          </a:xfrm>
          <a:prstGeom prst="rect">
            <a:avLst/>
          </a:prstGeom>
          <a:noFill/>
          <a:ln/>
        </p:spPr>
        <p:txBody>
          <a:bodyPr wrap="square" lIns="0" tIns="0" rIns="0" bIns="0" rtlCol="0" anchor="ctr"/>
          <a:lstStyle/>
          <a:p>
            <a:pPr marL="0" indent="0">
              <a:buNone/>
            </a:pPr>
            <a:r>
              <a:rPr lang="en-US" sz="950" b="1" dirty="0">
                <a:solidFill>
                  <a:srgbClr val="2F78B7"/>
                </a:solidFill>
                <a:latin typeface="Calibri" pitchFamily="34" charset="0"/>
                <a:ea typeface="Calibri" pitchFamily="34" charset="-122"/>
                <a:cs typeface="Calibri" pitchFamily="34" charset="-120"/>
              </a:rPr>
              <a:t>Engagement depth</a:t>
            </a:r>
            <a:endParaRPr lang="en-US" sz="950" dirty="0"/>
          </a:p>
        </p:txBody>
      </p:sp>
      <p:sp>
        <p:nvSpPr>
          <p:cNvPr id="26" name="Text 24"/>
          <p:cNvSpPr txBox="1"/>
          <p:nvPr/>
        </p:nvSpPr>
        <p:spPr>
          <a:xfrm>
            <a:off x="548640" y="2715768"/>
            <a:ext cx="1828800" cy="365760"/>
          </a:xfrm>
          <a:prstGeom prst="rect">
            <a:avLst/>
          </a:prstGeom>
          <a:noFill/>
          <a:ln/>
        </p:spPr>
        <p:txBody>
          <a:bodyPr wrap="square" lIns="0" tIns="0" rIns="0" bIns="0" rtlCol="0" anchor="t"/>
          <a:lstStyle/>
          <a:p>
            <a:pPr marL="0" indent="0">
              <a:buNone/>
            </a:pPr>
            <a:r>
              <a:rPr lang="en-US" sz="950" dirty="0">
                <a:solidFill>
                  <a:srgbClr val="1B2733"/>
                </a:solidFill>
                <a:latin typeface="Calibri" pitchFamily="34" charset="0"/>
                <a:ea typeface="Calibri" pitchFamily="34" charset="-122"/>
                <a:cs typeface="Calibri" pitchFamily="34" charset="-120"/>
              </a:rPr>
              <a:t>AvgTimePerProductPage, AvgTimePerPage</a:t>
            </a:r>
            <a:endParaRPr lang="en-US" sz="950" dirty="0"/>
          </a:p>
        </p:txBody>
      </p:sp>
      <p:sp>
        <p:nvSpPr>
          <p:cNvPr id="27" name="Shape 25"/>
          <p:cNvSpPr/>
          <p:nvPr/>
        </p:nvSpPr>
        <p:spPr>
          <a:xfrm>
            <a:off x="2560320" y="2496312"/>
            <a:ext cx="2011680" cy="603504"/>
          </a:xfrm>
          <a:prstGeom prst="roundRect">
            <a:avLst>
              <a:gd name="adj" fmla="val 121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28" name="Text 26"/>
          <p:cNvSpPr txBox="1"/>
          <p:nvPr/>
        </p:nvSpPr>
        <p:spPr>
          <a:xfrm>
            <a:off x="2651760" y="2532888"/>
            <a:ext cx="1828800" cy="182880"/>
          </a:xfrm>
          <a:prstGeom prst="rect">
            <a:avLst/>
          </a:prstGeom>
          <a:noFill/>
          <a:ln/>
        </p:spPr>
        <p:txBody>
          <a:bodyPr wrap="square" lIns="0" tIns="0" rIns="0" bIns="0" rtlCol="0" anchor="ctr"/>
          <a:lstStyle/>
          <a:p>
            <a:pPr marL="0" indent="0">
              <a:buNone/>
            </a:pPr>
            <a:r>
              <a:rPr lang="en-US" sz="950" b="1" dirty="0">
                <a:solidFill>
                  <a:srgbClr val="2F78B7"/>
                </a:solidFill>
                <a:latin typeface="Calibri" pitchFamily="34" charset="0"/>
                <a:ea typeface="Calibri" pitchFamily="34" charset="-122"/>
                <a:cs typeface="Calibri" pitchFamily="34" charset="-120"/>
              </a:rPr>
              <a:t>Risk flags</a:t>
            </a:r>
            <a:endParaRPr lang="en-US" sz="950" dirty="0"/>
          </a:p>
        </p:txBody>
      </p:sp>
      <p:sp>
        <p:nvSpPr>
          <p:cNvPr id="29" name="Text 27"/>
          <p:cNvSpPr txBox="1"/>
          <p:nvPr/>
        </p:nvSpPr>
        <p:spPr>
          <a:xfrm>
            <a:off x="2651760" y="2715768"/>
            <a:ext cx="1828800" cy="365760"/>
          </a:xfrm>
          <a:prstGeom prst="rect">
            <a:avLst/>
          </a:prstGeom>
          <a:noFill/>
          <a:ln/>
        </p:spPr>
        <p:txBody>
          <a:bodyPr wrap="square" lIns="0" tIns="0" rIns="0" bIns="0" rtlCol="0" anchor="t"/>
          <a:lstStyle/>
          <a:p>
            <a:pPr marL="0" indent="0">
              <a:buNone/>
            </a:pPr>
            <a:r>
              <a:rPr lang="en-US" sz="950" dirty="0">
                <a:solidFill>
                  <a:srgbClr val="1B2733"/>
                </a:solidFill>
                <a:latin typeface="Calibri" pitchFamily="34" charset="0"/>
                <a:ea typeface="Calibri" pitchFamily="34" charset="-122"/>
                <a:cs typeface="Calibri" pitchFamily="34" charset="-120"/>
              </a:rPr>
              <a:t>IsBouncer, HighExitRisk</a:t>
            </a:r>
            <a:endParaRPr lang="en-US" sz="950" dirty="0"/>
          </a:p>
        </p:txBody>
      </p:sp>
      <p:sp>
        <p:nvSpPr>
          <p:cNvPr id="30" name="Shape 28"/>
          <p:cNvSpPr/>
          <p:nvPr/>
        </p:nvSpPr>
        <p:spPr>
          <a:xfrm>
            <a:off x="457200" y="3163824"/>
            <a:ext cx="2011680" cy="603504"/>
          </a:xfrm>
          <a:prstGeom prst="roundRect">
            <a:avLst>
              <a:gd name="adj" fmla="val 121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31" name="Text 29"/>
          <p:cNvSpPr txBox="1"/>
          <p:nvPr/>
        </p:nvSpPr>
        <p:spPr>
          <a:xfrm>
            <a:off x="548640" y="3200400"/>
            <a:ext cx="1828800" cy="182880"/>
          </a:xfrm>
          <a:prstGeom prst="rect">
            <a:avLst/>
          </a:prstGeom>
          <a:noFill/>
          <a:ln/>
        </p:spPr>
        <p:txBody>
          <a:bodyPr wrap="square" lIns="0" tIns="0" rIns="0" bIns="0" rtlCol="0" anchor="ctr"/>
          <a:lstStyle/>
          <a:p>
            <a:pPr marL="0" indent="0">
              <a:buNone/>
            </a:pPr>
            <a:r>
              <a:rPr lang="en-US" sz="950" b="1" dirty="0">
                <a:solidFill>
                  <a:srgbClr val="2F78B7"/>
                </a:solidFill>
                <a:latin typeface="Calibri" pitchFamily="34" charset="0"/>
                <a:ea typeface="Calibri" pitchFamily="34" charset="-122"/>
                <a:cs typeface="Calibri" pitchFamily="34" charset="-120"/>
              </a:rPr>
              <a:t>Page value</a:t>
            </a:r>
            <a:endParaRPr lang="en-US" sz="950" dirty="0"/>
          </a:p>
        </p:txBody>
      </p:sp>
      <p:sp>
        <p:nvSpPr>
          <p:cNvPr id="32" name="Text 30"/>
          <p:cNvSpPr txBox="1"/>
          <p:nvPr/>
        </p:nvSpPr>
        <p:spPr>
          <a:xfrm>
            <a:off x="548640" y="3383280"/>
            <a:ext cx="1828800" cy="365760"/>
          </a:xfrm>
          <a:prstGeom prst="rect">
            <a:avLst/>
          </a:prstGeom>
          <a:noFill/>
          <a:ln/>
        </p:spPr>
        <p:txBody>
          <a:bodyPr wrap="square" lIns="0" tIns="0" rIns="0" bIns="0" rtlCol="0" anchor="t"/>
          <a:lstStyle/>
          <a:p>
            <a:pPr marL="0" indent="0">
              <a:buNone/>
            </a:pPr>
            <a:r>
              <a:rPr lang="en-US" sz="950" dirty="0">
                <a:solidFill>
                  <a:srgbClr val="1B2733"/>
                </a:solidFill>
                <a:latin typeface="Calibri" pitchFamily="34" charset="0"/>
                <a:ea typeface="Calibri" pitchFamily="34" charset="-122"/>
                <a:cs typeface="Calibri" pitchFamily="34" charset="-120"/>
              </a:rPr>
              <a:t>HasPageValue, LogPageValues</a:t>
            </a:r>
            <a:endParaRPr lang="en-US" sz="950" dirty="0"/>
          </a:p>
        </p:txBody>
      </p:sp>
      <p:sp>
        <p:nvSpPr>
          <p:cNvPr id="33" name="Shape 31"/>
          <p:cNvSpPr/>
          <p:nvPr/>
        </p:nvSpPr>
        <p:spPr>
          <a:xfrm>
            <a:off x="2560320" y="3163824"/>
            <a:ext cx="2011680" cy="603504"/>
          </a:xfrm>
          <a:prstGeom prst="roundRect">
            <a:avLst>
              <a:gd name="adj" fmla="val 121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34" name="Text 32"/>
          <p:cNvSpPr txBox="1"/>
          <p:nvPr/>
        </p:nvSpPr>
        <p:spPr>
          <a:xfrm>
            <a:off x="2651760" y="3200400"/>
            <a:ext cx="1828800" cy="182880"/>
          </a:xfrm>
          <a:prstGeom prst="rect">
            <a:avLst/>
          </a:prstGeom>
          <a:noFill/>
          <a:ln/>
        </p:spPr>
        <p:txBody>
          <a:bodyPr wrap="square" lIns="0" tIns="0" rIns="0" bIns="0" rtlCol="0" anchor="ctr"/>
          <a:lstStyle/>
          <a:p>
            <a:pPr marL="0" indent="0">
              <a:buNone/>
            </a:pPr>
            <a:r>
              <a:rPr lang="en-US" sz="950" b="1" dirty="0">
                <a:solidFill>
                  <a:srgbClr val="2F78B7"/>
                </a:solidFill>
                <a:latin typeface="Calibri" pitchFamily="34" charset="0"/>
                <a:ea typeface="Calibri" pitchFamily="34" charset="-122"/>
                <a:cs typeface="Calibri" pitchFamily="34" charset="-120"/>
              </a:rPr>
              <a:t>Season &amp; visitor</a:t>
            </a:r>
            <a:endParaRPr lang="en-US" sz="950" dirty="0"/>
          </a:p>
        </p:txBody>
      </p:sp>
      <p:sp>
        <p:nvSpPr>
          <p:cNvPr id="35" name="Text 33"/>
          <p:cNvSpPr txBox="1"/>
          <p:nvPr/>
        </p:nvSpPr>
        <p:spPr>
          <a:xfrm>
            <a:off x="2651760" y="3383280"/>
            <a:ext cx="1828800" cy="365760"/>
          </a:xfrm>
          <a:prstGeom prst="rect">
            <a:avLst/>
          </a:prstGeom>
          <a:noFill/>
          <a:ln/>
        </p:spPr>
        <p:txBody>
          <a:bodyPr wrap="square" lIns="0" tIns="0" rIns="0" bIns="0" rtlCol="0" anchor="t"/>
          <a:lstStyle/>
          <a:p>
            <a:pPr marL="0" indent="0">
              <a:buNone/>
            </a:pPr>
            <a:r>
              <a:rPr lang="en-US" sz="950" dirty="0">
                <a:solidFill>
                  <a:srgbClr val="1B2733"/>
                </a:solidFill>
                <a:latin typeface="Calibri" pitchFamily="34" charset="0"/>
                <a:ea typeface="Calibri" pitchFamily="34" charset="-122"/>
                <a:cs typeface="Calibri" pitchFamily="34" charset="-120"/>
              </a:rPr>
              <a:t>IsHolidaySeason, NearSpecialDay, IsNewVisitor</a:t>
            </a:r>
            <a:endParaRPr lang="en-US" sz="950" dirty="0"/>
          </a:p>
        </p:txBody>
      </p:sp>
      <p:sp>
        <p:nvSpPr>
          <p:cNvPr id="36" name="Text 34"/>
          <p:cNvSpPr txBox="1"/>
          <p:nvPr/>
        </p:nvSpPr>
        <p:spPr>
          <a:xfrm>
            <a:off x="457200" y="3886200"/>
            <a:ext cx="4114800" cy="868680"/>
          </a:xfrm>
          <a:prstGeom prst="rect">
            <a:avLst/>
          </a:prstGeom>
          <a:noFill/>
          <a:ln/>
        </p:spPr>
        <p:txBody>
          <a:bodyPr wrap="square" lIns="0" tIns="0" rIns="0" bIns="0" rtlCol="0" anchor="t"/>
          <a:lstStyle/>
          <a:p>
            <a:pPr marL="0" indent="0">
              <a:spcAft>
                <a:spcPts val="300"/>
              </a:spcAft>
              <a:buNone/>
            </a:pPr>
            <a:r>
              <a:rPr lang="en-US" sz="950" b="1" dirty="0">
                <a:solidFill>
                  <a:srgbClr val="1B2733"/>
                </a:solidFill>
                <a:latin typeface="Calibri" pitchFamily="34" charset="0"/>
                <a:ea typeface="Calibri" pitchFamily="34" charset="-122"/>
                <a:cs typeface="Calibri" pitchFamily="34" charset="-120"/>
              </a:rPr>
              <a:t>Leakage-safe: </a:t>
            </a:r>
            <a:r>
              <a:rPr lang="en-US" sz="950" dirty="0">
                <a:solidFill>
                  <a:srgbClr val="5B6B7B"/>
                </a:solidFill>
                <a:latin typeface="Calibri" pitchFamily="34" charset="0"/>
                <a:ea typeface="Calibri" pitchFamily="34" charset="-122"/>
                <a:cs typeface="Calibri" pitchFamily="34" charset="-120"/>
              </a:rPr>
              <a:t>bounce (0.0167) and exit (0.0481) thresholds and encoders come from training data only.</a:t>
            </a:r>
            <a:endParaRPr lang="en-US" sz="950" dirty="0"/>
          </a:p>
          <a:p>
            <a:pPr marL="0" indent="0">
              <a:spcAft>
                <a:spcPts val="300"/>
              </a:spcAft>
              <a:buNone/>
            </a:pPr>
            <a:r>
              <a:rPr lang="en-US" sz="950" b="1" dirty="0">
                <a:solidFill>
                  <a:srgbClr val="1B2733"/>
                </a:solidFill>
                <a:latin typeface="Calibri" pitchFamily="34" charset="0"/>
                <a:ea typeface="Calibri" pitchFamily="34" charset="-122"/>
                <a:cs typeface="Calibri" pitchFamily="34" charset="-120"/>
              </a:rPr>
              <a:t>Correlated features kept: </a:t>
            </a:r>
            <a:r>
              <a:rPr lang="en-US" sz="950" dirty="0">
                <a:solidFill>
                  <a:srgbClr val="5B6B7B"/>
                </a:solidFill>
                <a:latin typeface="Calibri" pitchFamily="34" charset="0"/>
                <a:ea typeface="Calibri" pitchFamily="34" charset="-122"/>
                <a:cs typeface="Calibri" pitchFamily="34" charset="-120"/>
              </a:rPr>
              <a:t>r = 0.86 (product pages vs time), 0.91 (bounce vs exit). XGBoost handles it.</a:t>
            </a:r>
            <a:endParaRPr lang="en-US" sz="950" dirty="0"/>
          </a:p>
          <a:p>
            <a:pPr marL="0" indent="0">
              <a:spcAft>
                <a:spcPts val="300"/>
              </a:spcAft>
              <a:buNone/>
            </a:pPr>
            <a:r>
              <a:rPr lang="en-US" sz="950" b="1" dirty="0">
                <a:solidFill>
                  <a:srgbClr val="1B2733"/>
                </a:solidFill>
                <a:latin typeface="Calibri" pitchFamily="34" charset="0"/>
                <a:ea typeface="Calibri" pitchFamily="34" charset="-122"/>
                <a:cs typeface="Calibri" pitchFamily="34" charset="-120"/>
              </a:rPr>
              <a:t>Strongest signal: </a:t>
            </a:r>
            <a:r>
              <a:rPr lang="en-US" sz="950" dirty="0">
                <a:solidFill>
                  <a:srgbClr val="5B6B7B"/>
                </a:solidFill>
                <a:latin typeface="Calibri" pitchFamily="34" charset="0"/>
                <a:ea typeface="Calibri" pitchFamily="34" charset="-122"/>
                <a:cs typeface="Calibri" pitchFamily="34" charset="-120"/>
              </a:rPr>
              <a:t>buyers average PageValues 27.26 vs 2.00 (r = 0.49 with Revenue).</a:t>
            </a:r>
            <a:endParaRPr lang="en-US" sz="950" dirty="0"/>
          </a:p>
        </p:txBody>
      </p:sp>
      <p:sp>
        <p:nvSpPr>
          <p:cNvPr id="37" name="Shape 35"/>
          <p:cNvSpPr/>
          <p:nvPr/>
        </p:nvSpPr>
        <p:spPr>
          <a:xfrm>
            <a:off x="4754880" y="1828800"/>
            <a:ext cx="3931920" cy="1444752"/>
          </a:xfrm>
          <a:prstGeom prst="roundRect">
            <a:avLst>
              <a:gd name="adj" fmla="val 5063"/>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38" name="Image 0" descr="/home/claude/deck/img/visitor_rate.png"/>
          <p:cNvPicPr>
            <a:picLocks noChangeAspect="1"/>
          </p:cNvPicPr>
          <p:nvPr/>
        </p:nvPicPr>
        <p:blipFill>
          <a:blip r:embed="rId3"/>
          <a:stretch>
            <a:fillRect/>
          </a:stretch>
        </p:blipFill>
        <p:spPr>
          <a:xfrm>
            <a:off x="4846320" y="1928266"/>
            <a:ext cx="1828800" cy="1245820"/>
          </a:xfrm>
          <a:prstGeom prst="rect">
            <a:avLst/>
          </a:prstGeom>
        </p:spPr>
      </p:pic>
      <p:sp>
        <p:nvSpPr>
          <p:cNvPr id="39" name="Text 36"/>
          <p:cNvSpPr txBox="1"/>
          <p:nvPr/>
        </p:nvSpPr>
        <p:spPr>
          <a:xfrm>
            <a:off x="6766560" y="1920240"/>
            <a:ext cx="1874520" cy="365760"/>
          </a:xfrm>
          <a:prstGeom prst="rect">
            <a:avLst/>
          </a:prstGeom>
          <a:noFill/>
          <a:ln/>
        </p:spPr>
        <p:txBody>
          <a:bodyPr wrap="square" lIns="0" tIns="0" rIns="0" bIns="0" rtlCol="0" anchor="t"/>
          <a:lstStyle/>
          <a:p>
            <a:pPr marL="0" indent="0">
              <a:buNone/>
            </a:pPr>
            <a:r>
              <a:rPr lang="en-US" sz="1050" b="1" dirty="0">
                <a:solidFill>
                  <a:srgbClr val="1B2733"/>
                </a:solidFill>
                <a:latin typeface="Calibri" pitchFamily="34" charset="0"/>
                <a:ea typeface="Calibri" pitchFamily="34" charset="-122"/>
                <a:cs typeface="Calibri" pitchFamily="34" charset="-120"/>
              </a:rPr>
              <a:t>Purchase rate by visitor type</a:t>
            </a:r>
            <a:endParaRPr lang="en-US" sz="1050" dirty="0"/>
          </a:p>
        </p:txBody>
      </p:sp>
      <p:sp>
        <p:nvSpPr>
          <p:cNvPr id="40" name="Text 37"/>
          <p:cNvSpPr txBox="1"/>
          <p:nvPr/>
        </p:nvSpPr>
        <p:spPr>
          <a:xfrm>
            <a:off x="6766560" y="2331720"/>
            <a:ext cx="1874520" cy="822960"/>
          </a:xfrm>
          <a:prstGeom prst="rect">
            <a:avLst/>
          </a:prstGeom>
          <a:noFill/>
          <a:ln/>
        </p:spPr>
        <p:txBody>
          <a:bodyPr wrap="square" lIns="0" tIns="0" rIns="0" bIns="0" rtlCol="0" anchor="t"/>
          <a:lstStyle/>
          <a:p>
            <a:pPr marL="0" indent="0">
              <a:buNone/>
            </a:pPr>
            <a:r>
              <a:rPr lang="en-US" sz="1100" b="1" dirty="0">
                <a:solidFill>
                  <a:srgbClr val="F28C28"/>
                </a:solidFill>
                <a:latin typeface="Calibri" pitchFamily="34" charset="0"/>
                <a:ea typeface="Calibri" pitchFamily="34" charset="-122"/>
                <a:cs typeface="Calibri" pitchFamily="34" charset="-120"/>
              </a:rPr>
              <a:t>New  24.93%</a:t>
            </a:r>
            <a:endParaRPr lang="en-US" sz="1100" dirty="0"/>
          </a:p>
          <a:p>
            <a:pPr marL="0" indent="0">
              <a:buNone/>
            </a:pPr>
            <a:r>
              <a:rPr lang="en-US" sz="1100" dirty="0">
                <a:solidFill>
                  <a:srgbClr val="1B2733"/>
                </a:solidFill>
                <a:latin typeface="Calibri" pitchFamily="34" charset="0"/>
                <a:ea typeface="Calibri" pitchFamily="34" charset="-122"/>
                <a:cs typeface="Calibri" pitchFamily="34" charset="-120"/>
              </a:rPr>
              <a:t>Other  19.75%</a:t>
            </a:r>
            <a:endParaRPr lang="en-US" sz="1100" dirty="0"/>
          </a:p>
          <a:p>
            <a:pPr marL="0" indent="0">
              <a:buNone/>
            </a:pPr>
            <a:r>
              <a:rPr lang="en-US" sz="1100" dirty="0">
                <a:solidFill>
                  <a:srgbClr val="1B2733"/>
                </a:solidFill>
                <a:latin typeface="Calibri" pitchFamily="34" charset="0"/>
                <a:ea typeface="Calibri" pitchFamily="34" charset="-122"/>
                <a:cs typeface="Calibri" pitchFamily="34" charset="-120"/>
              </a:rPr>
              <a:t>Returning  14.09%</a:t>
            </a:r>
            <a:endParaRPr lang="en-US" sz="1100" dirty="0"/>
          </a:p>
        </p:txBody>
      </p:sp>
      <p:sp>
        <p:nvSpPr>
          <p:cNvPr id="41" name="Shape 38"/>
          <p:cNvSpPr/>
          <p:nvPr/>
        </p:nvSpPr>
        <p:spPr>
          <a:xfrm>
            <a:off x="4754880" y="3355848"/>
            <a:ext cx="3931920" cy="1399032"/>
          </a:xfrm>
          <a:prstGeom prst="roundRect">
            <a:avLst>
              <a:gd name="adj" fmla="val 5229"/>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42" name="Image 1" descr="/home/claude/deck/img/month_rate.png"/>
          <p:cNvPicPr>
            <a:picLocks noChangeAspect="1"/>
          </p:cNvPicPr>
          <p:nvPr/>
        </p:nvPicPr>
        <p:blipFill>
          <a:blip r:embed="rId4"/>
          <a:stretch>
            <a:fillRect/>
          </a:stretch>
        </p:blipFill>
        <p:spPr>
          <a:xfrm>
            <a:off x="4846320" y="3454227"/>
            <a:ext cx="2103120" cy="1211417"/>
          </a:xfrm>
          <a:prstGeom prst="rect">
            <a:avLst/>
          </a:prstGeom>
        </p:spPr>
      </p:pic>
      <p:sp>
        <p:nvSpPr>
          <p:cNvPr id="43" name="Text 39"/>
          <p:cNvSpPr txBox="1"/>
          <p:nvPr/>
        </p:nvSpPr>
        <p:spPr>
          <a:xfrm>
            <a:off x="7040880" y="3447288"/>
            <a:ext cx="1600200" cy="365760"/>
          </a:xfrm>
          <a:prstGeom prst="rect">
            <a:avLst/>
          </a:prstGeom>
          <a:noFill/>
          <a:ln/>
        </p:spPr>
        <p:txBody>
          <a:bodyPr wrap="square" lIns="0" tIns="0" rIns="0" bIns="0" rtlCol="0" anchor="t"/>
          <a:lstStyle/>
          <a:p>
            <a:pPr marL="0" indent="0">
              <a:buNone/>
            </a:pPr>
            <a:r>
              <a:rPr lang="en-US" sz="1050" b="1" dirty="0">
                <a:solidFill>
                  <a:srgbClr val="1B2733"/>
                </a:solidFill>
                <a:latin typeface="Calibri" pitchFamily="34" charset="0"/>
                <a:ea typeface="Calibri" pitchFamily="34" charset="-122"/>
                <a:cs typeface="Calibri" pitchFamily="34" charset="-120"/>
              </a:rPr>
              <a:t>Purchase rate by month</a:t>
            </a:r>
            <a:endParaRPr lang="en-US" sz="1050" dirty="0"/>
          </a:p>
        </p:txBody>
      </p:sp>
      <p:sp>
        <p:nvSpPr>
          <p:cNvPr id="44" name="Text 40"/>
          <p:cNvSpPr txBox="1"/>
          <p:nvPr/>
        </p:nvSpPr>
        <p:spPr>
          <a:xfrm>
            <a:off x="7040880" y="3840480"/>
            <a:ext cx="1600200" cy="822960"/>
          </a:xfrm>
          <a:prstGeom prst="rect">
            <a:avLst/>
          </a:prstGeom>
          <a:noFill/>
          <a:ln/>
        </p:spPr>
        <p:txBody>
          <a:bodyPr wrap="square" lIns="0" tIns="0" rIns="0" bIns="0" rtlCol="0" anchor="t"/>
          <a:lstStyle/>
          <a:p>
            <a:pPr marL="0" indent="0">
              <a:buNone/>
            </a:pPr>
            <a:r>
              <a:rPr lang="en-US" sz="1100" b="1" dirty="0">
                <a:solidFill>
                  <a:srgbClr val="F28C28"/>
                </a:solidFill>
                <a:latin typeface="Calibri" pitchFamily="34" charset="0"/>
                <a:ea typeface="Calibri" pitchFamily="34" charset="-122"/>
                <a:cs typeface="Calibri" pitchFamily="34" charset="-120"/>
              </a:rPr>
              <a:t>Nov  25.49%</a:t>
            </a:r>
            <a:endParaRPr lang="en-US" sz="1100" dirty="0"/>
          </a:p>
          <a:p>
            <a:pPr marL="0" indent="0">
              <a:buNone/>
            </a:pPr>
            <a:r>
              <a:rPr lang="en-US" sz="1100" dirty="0">
                <a:solidFill>
                  <a:srgbClr val="1B2733"/>
                </a:solidFill>
                <a:latin typeface="Calibri" pitchFamily="34" charset="0"/>
                <a:ea typeface="Calibri" pitchFamily="34" charset="-122"/>
                <a:cs typeface="Calibri" pitchFamily="34" charset="-120"/>
              </a:rPr>
              <a:t>Feb  1.66%</a:t>
            </a:r>
            <a:endParaRPr lang="en-US" sz="1100" dirty="0"/>
          </a:p>
          <a:p>
            <a:pPr marL="0" indent="0">
              <a:buNone/>
            </a:pPr>
            <a:r>
              <a:rPr lang="en-US" sz="1100" dirty="0">
                <a:solidFill>
                  <a:srgbClr val="5B6B7B"/>
                </a:solidFill>
                <a:latin typeface="Calibri" pitchFamily="34" charset="0"/>
                <a:ea typeface="Calibri" pitchFamily="34" charset="-122"/>
                <a:cs typeface="Calibri" pitchFamily="34" charset="-120"/>
              </a:rPr>
              <a:t>Strong seasonality</a:t>
            </a:r>
            <a:endParaRPr lang="en-US" sz="1100" dirty="0"/>
          </a:p>
        </p:txBody>
      </p:sp>
    </p:spTree>
    <p:extLst>
      <p:ext uri="{BB962C8B-B14F-4D97-AF65-F5344CB8AC3E}">
        <p14:creationId xmlns:p14="http://schemas.microsoft.com/office/powerpoint/2010/main" val="845902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Models &amp; Evaluation Strategy</a:t>
            </a:r>
            <a:endParaRPr lang="en-US" sz="3000" dirty="0"/>
          </a:p>
        </p:txBody>
      </p:sp>
      <p:sp>
        <p:nvSpPr>
          <p:cNvPr id="3" name="Shape 1"/>
          <p:cNvSpPr/>
          <p:nvPr/>
        </p:nvSpPr>
        <p:spPr>
          <a:xfrm>
            <a:off x="457200" y="1143000"/>
            <a:ext cx="2651760" cy="1828800"/>
          </a:xfrm>
          <a:prstGeom prst="roundRect">
            <a:avLst>
              <a:gd name="adj" fmla="val 4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4" name="Shape 2"/>
          <p:cNvSpPr/>
          <p:nvPr/>
        </p:nvSpPr>
        <p:spPr>
          <a:xfrm>
            <a:off x="640080" y="1298448"/>
            <a:ext cx="457200" cy="457200"/>
          </a:xfrm>
          <a:prstGeom prst="ellipse">
            <a:avLst/>
          </a:prstGeom>
          <a:solidFill>
            <a:srgbClr val="2F78B7"/>
          </a:solidFill>
          <a:ln w="12700">
            <a:solidFill>
              <a:srgbClr val="2F78B7"/>
            </a:solidFill>
            <a:prstDash val="solid"/>
          </a:ln>
        </p:spPr>
        <p:txBody>
          <a:bodyPr/>
          <a:lstStyle/>
          <a:p>
            <a:endParaRPr lang="en-NL"/>
          </a:p>
        </p:txBody>
      </p:sp>
      <p:pic>
        <p:nvPicPr>
          <p:cNvPr id="5" name="Image 0" descr="preencoded.png"/>
          <p:cNvPicPr>
            <a:picLocks noChangeAspect="1"/>
          </p:cNvPicPr>
          <p:nvPr/>
        </p:nvPicPr>
        <p:blipFill>
          <a:blip r:embed="rId3"/>
          <a:stretch>
            <a:fillRect/>
          </a:stretch>
        </p:blipFill>
        <p:spPr>
          <a:xfrm>
            <a:off x="754380" y="1412748"/>
            <a:ext cx="228600" cy="228600"/>
          </a:xfrm>
          <a:prstGeom prst="rect">
            <a:avLst/>
          </a:prstGeom>
        </p:spPr>
      </p:pic>
      <p:sp>
        <p:nvSpPr>
          <p:cNvPr id="6" name="Text 3"/>
          <p:cNvSpPr txBox="1"/>
          <p:nvPr/>
        </p:nvSpPr>
        <p:spPr>
          <a:xfrm>
            <a:off x="1234440" y="1298448"/>
            <a:ext cx="1783080" cy="457200"/>
          </a:xfrm>
          <a:prstGeom prst="rect">
            <a:avLst/>
          </a:prstGeom>
          <a:noFill/>
          <a:ln/>
        </p:spPr>
        <p:txBody>
          <a:bodyPr wrap="square" lIns="0" tIns="0" rIns="0" bIns="0" rtlCol="0" anchor="ctr"/>
          <a:lstStyle/>
          <a:p>
            <a:pPr marL="0" indent="0">
              <a:buNone/>
            </a:pPr>
            <a:r>
              <a:rPr lang="en-US" sz="1500" b="1" dirty="0">
                <a:solidFill>
                  <a:srgbClr val="1B2733"/>
                </a:solidFill>
                <a:latin typeface="Cambria" pitchFamily="34" charset="0"/>
                <a:ea typeface="Cambria" pitchFamily="34" charset="-122"/>
                <a:cs typeface="Cambria" pitchFamily="34" charset="-120"/>
              </a:rPr>
              <a:t>SGDClassifier</a:t>
            </a:r>
            <a:endParaRPr lang="en-US" sz="1500" dirty="0"/>
          </a:p>
        </p:txBody>
      </p:sp>
      <p:sp>
        <p:nvSpPr>
          <p:cNvPr id="7" name="Text 4"/>
          <p:cNvSpPr txBox="1"/>
          <p:nvPr/>
        </p:nvSpPr>
        <p:spPr>
          <a:xfrm>
            <a:off x="640080" y="1901952"/>
            <a:ext cx="2286000" cy="228600"/>
          </a:xfrm>
          <a:prstGeom prst="rect">
            <a:avLst/>
          </a:prstGeom>
          <a:noFill/>
          <a:ln/>
        </p:spPr>
        <p:txBody>
          <a:bodyPr wrap="square" lIns="0" tIns="0" rIns="0" bIns="0" rtlCol="0" anchor="ctr"/>
          <a:lstStyle/>
          <a:p>
            <a:pPr marL="0" indent="0">
              <a:buNone/>
            </a:pPr>
            <a:r>
              <a:rPr lang="en-US" sz="950" b="1" kern="0" spc="200" dirty="0">
                <a:solidFill>
                  <a:srgbClr val="2F78B7"/>
                </a:solidFill>
                <a:latin typeface="Calibri" pitchFamily="34" charset="0"/>
                <a:ea typeface="Calibri" pitchFamily="34" charset="-122"/>
                <a:cs typeface="Calibri" pitchFamily="34" charset="-120"/>
              </a:rPr>
              <a:t>LINEAR BASELINE</a:t>
            </a:r>
            <a:endParaRPr lang="en-US" sz="950" dirty="0"/>
          </a:p>
        </p:txBody>
      </p:sp>
      <p:sp>
        <p:nvSpPr>
          <p:cNvPr id="8" name="Text 5"/>
          <p:cNvSpPr txBox="1"/>
          <p:nvPr/>
        </p:nvSpPr>
        <p:spPr>
          <a:xfrm>
            <a:off x="640080" y="2194560"/>
            <a:ext cx="2286000" cy="960120"/>
          </a:xfrm>
          <a:prstGeom prst="rect">
            <a:avLst/>
          </a:prstGeom>
          <a:noFill/>
          <a:ln/>
        </p:spPr>
        <p:txBody>
          <a:bodyPr wrap="square" lIns="0" tIns="0" rIns="0" bIns="0"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Logistic-loss SGD on standardised inputs. A simple, fast reference point.</a:t>
            </a:r>
            <a:endParaRPr lang="en-US" sz="1150" dirty="0"/>
          </a:p>
        </p:txBody>
      </p:sp>
      <p:sp>
        <p:nvSpPr>
          <p:cNvPr id="9" name="Shape 6"/>
          <p:cNvSpPr/>
          <p:nvPr/>
        </p:nvSpPr>
        <p:spPr>
          <a:xfrm>
            <a:off x="3246120" y="1143000"/>
            <a:ext cx="2651760" cy="1828800"/>
          </a:xfrm>
          <a:prstGeom prst="roundRect">
            <a:avLst>
              <a:gd name="adj" fmla="val 4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0" name="Shape 7"/>
          <p:cNvSpPr/>
          <p:nvPr/>
        </p:nvSpPr>
        <p:spPr>
          <a:xfrm>
            <a:off x="3429000" y="1298448"/>
            <a:ext cx="457200" cy="457200"/>
          </a:xfrm>
          <a:prstGeom prst="ellipse">
            <a:avLst/>
          </a:prstGeom>
          <a:solidFill>
            <a:srgbClr val="2F78B7"/>
          </a:solidFill>
          <a:ln w="12700">
            <a:solidFill>
              <a:srgbClr val="2F78B7"/>
            </a:solidFill>
            <a:prstDash val="solid"/>
          </a:ln>
        </p:spPr>
        <p:txBody>
          <a:bodyPr/>
          <a:lstStyle/>
          <a:p>
            <a:endParaRPr lang="en-NL"/>
          </a:p>
        </p:txBody>
      </p:sp>
      <p:pic>
        <p:nvPicPr>
          <p:cNvPr id="11" name="Image 1" descr="preencoded.png"/>
          <p:cNvPicPr>
            <a:picLocks noChangeAspect="1"/>
          </p:cNvPicPr>
          <p:nvPr/>
        </p:nvPicPr>
        <p:blipFill>
          <a:blip r:embed="rId4"/>
          <a:stretch>
            <a:fillRect/>
          </a:stretch>
        </p:blipFill>
        <p:spPr>
          <a:xfrm>
            <a:off x="3543300" y="1412748"/>
            <a:ext cx="228600" cy="228600"/>
          </a:xfrm>
          <a:prstGeom prst="rect">
            <a:avLst/>
          </a:prstGeom>
        </p:spPr>
      </p:pic>
      <p:sp>
        <p:nvSpPr>
          <p:cNvPr id="12" name="Text 8"/>
          <p:cNvSpPr txBox="1"/>
          <p:nvPr/>
        </p:nvSpPr>
        <p:spPr>
          <a:xfrm>
            <a:off x="4023360" y="1298448"/>
            <a:ext cx="1783080" cy="457200"/>
          </a:xfrm>
          <a:prstGeom prst="rect">
            <a:avLst/>
          </a:prstGeom>
          <a:noFill/>
          <a:ln/>
        </p:spPr>
        <p:txBody>
          <a:bodyPr wrap="square" lIns="0" tIns="0" rIns="0" bIns="0" rtlCol="0" anchor="ctr"/>
          <a:lstStyle/>
          <a:p>
            <a:pPr marL="0" indent="0">
              <a:buNone/>
            </a:pPr>
            <a:r>
              <a:rPr lang="en-US" sz="1500" b="1" dirty="0">
                <a:solidFill>
                  <a:srgbClr val="1B2733"/>
                </a:solidFill>
                <a:latin typeface="Cambria" pitchFamily="34" charset="0"/>
                <a:ea typeface="Cambria" pitchFamily="34" charset="-122"/>
                <a:cs typeface="Cambria" pitchFamily="34" charset="-120"/>
              </a:rPr>
              <a:t>Random Forest</a:t>
            </a:r>
            <a:endParaRPr lang="en-US" sz="1500" dirty="0"/>
          </a:p>
        </p:txBody>
      </p:sp>
      <p:sp>
        <p:nvSpPr>
          <p:cNvPr id="13" name="Text 9"/>
          <p:cNvSpPr txBox="1"/>
          <p:nvPr/>
        </p:nvSpPr>
        <p:spPr>
          <a:xfrm>
            <a:off x="3429000" y="1901952"/>
            <a:ext cx="2286000" cy="228600"/>
          </a:xfrm>
          <a:prstGeom prst="rect">
            <a:avLst/>
          </a:prstGeom>
          <a:noFill/>
          <a:ln/>
        </p:spPr>
        <p:txBody>
          <a:bodyPr wrap="square" lIns="0" tIns="0" rIns="0" bIns="0" rtlCol="0" anchor="ctr"/>
          <a:lstStyle/>
          <a:p>
            <a:pPr marL="0" indent="0">
              <a:buNone/>
            </a:pPr>
            <a:r>
              <a:rPr lang="en-US" sz="950" b="1" kern="0" spc="200" dirty="0">
                <a:solidFill>
                  <a:srgbClr val="2F78B7"/>
                </a:solidFill>
                <a:latin typeface="Calibri" pitchFamily="34" charset="0"/>
                <a:ea typeface="Calibri" pitchFamily="34" charset="-122"/>
                <a:cs typeface="Calibri" pitchFamily="34" charset="-120"/>
              </a:rPr>
              <a:t>NON-LINEAR BENCHMARK</a:t>
            </a:r>
            <a:endParaRPr lang="en-US" sz="950" dirty="0"/>
          </a:p>
        </p:txBody>
      </p:sp>
      <p:sp>
        <p:nvSpPr>
          <p:cNvPr id="14" name="Text 10"/>
          <p:cNvSpPr txBox="1"/>
          <p:nvPr/>
        </p:nvSpPr>
        <p:spPr>
          <a:xfrm>
            <a:off x="3429000" y="2194560"/>
            <a:ext cx="2286000" cy="960120"/>
          </a:xfrm>
          <a:prstGeom prst="rect">
            <a:avLst/>
          </a:prstGeom>
          <a:noFill/>
          <a:ln/>
        </p:spPr>
        <p:txBody>
          <a:bodyPr wrap="square" lIns="0" tIns="0" rIns="0" bIns="0" rtlCol="0" anchor="t"/>
          <a:lstStyle/>
          <a:p>
            <a:pPr marL="0" indent="0">
              <a:buNone/>
            </a:pPr>
            <a:r>
              <a:rPr lang="en-US" sz="1150" dirty="0">
                <a:solidFill>
                  <a:srgbClr val="5B6B7B"/>
                </a:solidFill>
                <a:latin typeface="Calibri" pitchFamily="34" charset="0"/>
                <a:ea typeface="Calibri" pitchFamily="34" charset="-122"/>
                <a:cs typeface="Calibri" pitchFamily="34" charset="-120"/>
              </a:rPr>
              <a:t>100 bagged trees (min split 5, min leaf 2). Tests whether non-linearity and interactions help.</a:t>
            </a:r>
            <a:endParaRPr lang="en-US" sz="1150" dirty="0"/>
          </a:p>
        </p:txBody>
      </p:sp>
      <p:sp>
        <p:nvSpPr>
          <p:cNvPr id="15" name="Shape 11"/>
          <p:cNvSpPr/>
          <p:nvPr/>
        </p:nvSpPr>
        <p:spPr>
          <a:xfrm>
            <a:off x="6035040" y="1143000"/>
            <a:ext cx="2651760" cy="1828800"/>
          </a:xfrm>
          <a:prstGeom prst="roundRect">
            <a:avLst>
              <a:gd name="adj" fmla="val 4000"/>
            </a:avLst>
          </a:prstGeom>
          <a:solidFill>
            <a:srgbClr val="10263B"/>
          </a:solidFill>
          <a:ln w="12700">
            <a:solidFill>
              <a:srgbClr val="10263B"/>
            </a:solidFill>
            <a:prstDash val="solid"/>
          </a:ln>
          <a:effectLst>
            <a:outerShdw blurRad="101600" dist="25400" dir="5400000" algn="bl" rotWithShape="0">
              <a:srgbClr val="000000">
                <a:alpha val="10000"/>
              </a:srgbClr>
            </a:outerShdw>
          </a:effectLst>
        </p:spPr>
        <p:txBody>
          <a:bodyPr/>
          <a:lstStyle/>
          <a:p>
            <a:endParaRPr lang="en-NL"/>
          </a:p>
        </p:txBody>
      </p:sp>
      <p:sp>
        <p:nvSpPr>
          <p:cNvPr id="16" name="Shape 12"/>
          <p:cNvSpPr/>
          <p:nvPr/>
        </p:nvSpPr>
        <p:spPr>
          <a:xfrm>
            <a:off x="6217920" y="1298448"/>
            <a:ext cx="457200" cy="457200"/>
          </a:xfrm>
          <a:prstGeom prst="ellipse">
            <a:avLst/>
          </a:prstGeom>
          <a:solidFill>
            <a:srgbClr val="F28C28"/>
          </a:solidFill>
          <a:ln w="12700">
            <a:solidFill>
              <a:srgbClr val="F28C28"/>
            </a:solidFill>
            <a:prstDash val="solid"/>
          </a:ln>
        </p:spPr>
        <p:txBody>
          <a:bodyPr/>
          <a:lstStyle/>
          <a:p>
            <a:endParaRPr lang="en-NL"/>
          </a:p>
        </p:txBody>
      </p:sp>
      <p:pic>
        <p:nvPicPr>
          <p:cNvPr id="17" name="Image 2" descr="preencoded.png"/>
          <p:cNvPicPr>
            <a:picLocks noChangeAspect="1"/>
          </p:cNvPicPr>
          <p:nvPr/>
        </p:nvPicPr>
        <p:blipFill>
          <a:blip r:embed="rId5"/>
          <a:stretch>
            <a:fillRect/>
          </a:stretch>
        </p:blipFill>
        <p:spPr>
          <a:xfrm>
            <a:off x="6332220" y="1412748"/>
            <a:ext cx="228600" cy="228600"/>
          </a:xfrm>
          <a:prstGeom prst="rect">
            <a:avLst/>
          </a:prstGeom>
        </p:spPr>
      </p:pic>
      <p:sp>
        <p:nvSpPr>
          <p:cNvPr id="18" name="Text 13"/>
          <p:cNvSpPr txBox="1"/>
          <p:nvPr/>
        </p:nvSpPr>
        <p:spPr>
          <a:xfrm>
            <a:off x="6812280" y="1298448"/>
            <a:ext cx="1783080" cy="45720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XGBoost</a:t>
            </a:r>
            <a:endParaRPr lang="en-US" sz="1500" dirty="0"/>
          </a:p>
        </p:txBody>
      </p:sp>
      <p:sp>
        <p:nvSpPr>
          <p:cNvPr id="19" name="Text 14"/>
          <p:cNvSpPr txBox="1"/>
          <p:nvPr/>
        </p:nvSpPr>
        <p:spPr>
          <a:xfrm>
            <a:off x="6217920" y="1901952"/>
            <a:ext cx="2286000" cy="228600"/>
          </a:xfrm>
          <a:prstGeom prst="rect">
            <a:avLst/>
          </a:prstGeom>
          <a:noFill/>
          <a:ln/>
        </p:spPr>
        <p:txBody>
          <a:bodyPr wrap="square" lIns="0" tIns="0" rIns="0" bIns="0" rtlCol="0" anchor="ctr"/>
          <a:lstStyle/>
          <a:p>
            <a:pPr marL="0" indent="0">
              <a:buNone/>
            </a:pPr>
            <a:r>
              <a:rPr lang="en-US" sz="950" b="1" kern="0" spc="200" dirty="0">
                <a:solidFill>
                  <a:srgbClr val="F28C28"/>
                </a:solidFill>
                <a:latin typeface="Calibri" pitchFamily="34" charset="0"/>
                <a:ea typeface="Calibri" pitchFamily="34" charset="-122"/>
                <a:cs typeface="Calibri" pitchFamily="34" charset="-120"/>
              </a:rPr>
              <a:t>FLAGSHIP MODEL</a:t>
            </a:r>
            <a:endParaRPr lang="en-US" sz="950" dirty="0"/>
          </a:p>
        </p:txBody>
      </p:sp>
      <p:sp>
        <p:nvSpPr>
          <p:cNvPr id="20" name="Text 15"/>
          <p:cNvSpPr txBox="1"/>
          <p:nvPr/>
        </p:nvSpPr>
        <p:spPr>
          <a:xfrm>
            <a:off x="6217920" y="2194560"/>
            <a:ext cx="2286000" cy="960120"/>
          </a:xfrm>
          <a:prstGeom prst="rect">
            <a:avLst/>
          </a:prstGeom>
          <a:noFill/>
          <a:ln/>
        </p:spPr>
        <p:txBody>
          <a:bodyPr wrap="square" lIns="0" tIns="0" rIns="0" bIns="0" rtlCol="0" anchor="t"/>
          <a:lstStyle/>
          <a:p>
            <a:pPr marL="0" indent="0">
              <a:buNone/>
            </a:pPr>
            <a:r>
              <a:rPr lang="en-US" sz="1150" dirty="0">
                <a:solidFill>
                  <a:srgbClr val="CADCFC"/>
                </a:solidFill>
                <a:latin typeface="Calibri" pitchFamily="34" charset="0"/>
                <a:ea typeface="Calibri" pitchFamily="34" charset="-122"/>
                <a:cs typeface="Calibri" pitchFamily="34" charset="-120"/>
              </a:rPr>
              <a:t>Gradient-boosted trees. Handles skewed, collinear features and interactions; tuned three ways.</a:t>
            </a:r>
            <a:endParaRPr lang="en-US" sz="1150" dirty="0"/>
          </a:p>
        </p:txBody>
      </p:sp>
      <p:sp>
        <p:nvSpPr>
          <p:cNvPr id="21" name="Shape 16"/>
          <p:cNvSpPr/>
          <p:nvPr/>
        </p:nvSpPr>
        <p:spPr>
          <a:xfrm>
            <a:off x="457200" y="3200400"/>
            <a:ext cx="4023360" cy="1463040"/>
          </a:xfrm>
          <a:prstGeom prst="roundRect">
            <a:avLst>
              <a:gd name="adj" fmla="val 5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22" name="Text 17"/>
          <p:cNvSpPr txBox="1"/>
          <p:nvPr/>
        </p:nvSpPr>
        <p:spPr>
          <a:xfrm>
            <a:off x="640080" y="3337560"/>
            <a:ext cx="3657600" cy="274320"/>
          </a:xfrm>
          <a:prstGeom prst="rect">
            <a:avLst/>
          </a:prstGeom>
          <a:noFill/>
          <a:ln/>
        </p:spPr>
        <p:txBody>
          <a:bodyPr wrap="square" lIns="0" tIns="0" rIns="0" bIns="0" rtlCol="0" anchor="ctr"/>
          <a:lstStyle/>
          <a:p>
            <a:pPr marL="0" indent="0">
              <a:buNone/>
            </a:pPr>
            <a:r>
              <a:rPr lang="en-US" sz="1400" b="1" dirty="0">
                <a:solidFill>
                  <a:srgbClr val="1B2733"/>
                </a:solidFill>
                <a:latin typeface="Calibri" pitchFamily="34" charset="0"/>
                <a:ea typeface="Calibri" pitchFamily="34" charset="-122"/>
                <a:cs typeface="Calibri" pitchFamily="34" charset="-120"/>
              </a:rPr>
              <a:t>Metrics</a:t>
            </a:r>
            <a:endParaRPr lang="en-US" sz="1400" dirty="0"/>
          </a:p>
        </p:txBody>
      </p:sp>
      <p:sp>
        <p:nvSpPr>
          <p:cNvPr id="23" name="Text 18"/>
          <p:cNvSpPr txBox="1"/>
          <p:nvPr/>
        </p:nvSpPr>
        <p:spPr>
          <a:xfrm>
            <a:off x="640080" y="3657600"/>
            <a:ext cx="3657600" cy="960120"/>
          </a:xfrm>
          <a:prstGeom prst="rect">
            <a:avLst/>
          </a:prstGeom>
          <a:noFill/>
          <a:ln/>
        </p:spPr>
        <p:txBody>
          <a:bodyPr wrap="square" lIns="0" tIns="0" rIns="0" bIns="0" rtlCol="0" anchor="t"/>
          <a:lstStyle/>
          <a:p>
            <a:pPr marL="0" indent="0">
              <a:buNone/>
            </a:pPr>
            <a:r>
              <a:rPr lang="en-US" sz="1150" dirty="0">
                <a:solidFill>
                  <a:srgbClr val="5B6B7B"/>
                </a:solidFill>
                <a:latin typeface="Calibri" pitchFamily="34" charset="0"/>
                <a:ea typeface="Calibri" pitchFamily="34" charset="-122"/>
                <a:cs typeface="Calibri" pitchFamily="34" charset="-120"/>
              </a:rPr>
              <a:t>ROC-AUC (primary, threshold-free), Purchase precision / recall / F1 and the confusion matrix. Accuracy is context only: always predicting 'No Purchase' already scores about 84%.</a:t>
            </a:r>
            <a:endParaRPr lang="en-US" sz="1150" dirty="0"/>
          </a:p>
        </p:txBody>
      </p:sp>
      <p:sp>
        <p:nvSpPr>
          <p:cNvPr id="24" name="Shape 19"/>
          <p:cNvSpPr/>
          <p:nvPr/>
        </p:nvSpPr>
        <p:spPr>
          <a:xfrm>
            <a:off x="4663440" y="3200400"/>
            <a:ext cx="4023360" cy="1463040"/>
          </a:xfrm>
          <a:prstGeom prst="roundRect">
            <a:avLst>
              <a:gd name="adj" fmla="val 5000"/>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25" name="Text 20"/>
          <p:cNvSpPr txBox="1"/>
          <p:nvPr/>
        </p:nvSpPr>
        <p:spPr>
          <a:xfrm>
            <a:off x="4846320" y="3337560"/>
            <a:ext cx="3657600" cy="274320"/>
          </a:xfrm>
          <a:prstGeom prst="rect">
            <a:avLst/>
          </a:prstGeom>
          <a:noFill/>
          <a:ln/>
        </p:spPr>
        <p:txBody>
          <a:bodyPr wrap="square" lIns="0" tIns="0" rIns="0" bIns="0" rtlCol="0" anchor="ctr"/>
          <a:lstStyle/>
          <a:p>
            <a:pPr marL="0" indent="0">
              <a:buNone/>
            </a:pPr>
            <a:r>
              <a:rPr lang="en-US" sz="1400" b="1" dirty="0">
                <a:solidFill>
                  <a:srgbClr val="1B2733"/>
                </a:solidFill>
                <a:latin typeface="Calibri" pitchFamily="34" charset="0"/>
                <a:ea typeface="Calibri" pitchFamily="34" charset="-122"/>
                <a:cs typeface="Calibri" pitchFamily="34" charset="-120"/>
              </a:rPr>
              <a:t>Validation</a:t>
            </a:r>
            <a:endParaRPr lang="en-US" sz="1400" dirty="0"/>
          </a:p>
        </p:txBody>
      </p:sp>
      <p:sp>
        <p:nvSpPr>
          <p:cNvPr id="26" name="Text 21"/>
          <p:cNvSpPr txBox="1"/>
          <p:nvPr/>
        </p:nvSpPr>
        <p:spPr>
          <a:xfrm>
            <a:off x="4846320" y="3657600"/>
            <a:ext cx="3657600" cy="960120"/>
          </a:xfrm>
          <a:prstGeom prst="rect">
            <a:avLst/>
          </a:prstGeom>
          <a:noFill/>
          <a:ln/>
        </p:spPr>
        <p:txBody>
          <a:bodyPr wrap="square" lIns="0" tIns="0" rIns="0" bIns="0" rtlCol="0" anchor="t"/>
          <a:lstStyle/>
          <a:p>
            <a:pPr marL="0" indent="0">
              <a:buNone/>
            </a:pPr>
            <a:r>
              <a:rPr lang="en-US" sz="1150" dirty="0">
                <a:solidFill>
                  <a:srgbClr val="5B6B7B"/>
                </a:solidFill>
                <a:latin typeface="Calibri" pitchFamily="34" charset="0"/>
                <a:ea typeface="Calibri" pitchFamily="34" charset="-122"/>
                <a:cs typeface="Calibri" pitchFamily="34" charset="-120"/>
              </a:rPr>
              <a:t>Stratified 80/20 hold-out, with the test set untouched during tuning. 4-fold (Random) and 5-fold (Grid) cross-validation on training data only. Fixed seed = 1.</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Hyperparameter Tuning</a:t>
            </a:r>
            <a:endParaRPr lang="en-US" sz="3000" dirty="0"/>
          </a:p>
        </p:txBody>
      </p:sp>
      <p:sp>
        <p:nvSpPr>
          <p:cNvPr id="3" name="Shape 1"/>
          <p:cNvSpPr/>
          <p:nvPr/>
        </p:nvSpPr>
        <p:spPr>
          <a:xfrm>
            <a:off x="457200" y="1143000"/>
            <a:ext cx="4480560" cy="1051560"/>
          </a:xfrm>
          <a:prstGeom prst="roundRect">
            <a:avLst>
              <a:gd name="adj" fmla="val 69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4" name="Text 2"/>
          <p:cNvSpPr txBox="1"/>
          <p:nvPr/>
        </p:nvSpPr>
        <p:spPr>
          <a:xfrm>
            <a:off x="621792" y="1417320"/>
            <a:ext cx="457200" cy="457200"/>
          </a:xfrm>
          <a:prstGeom prst="ellipse">
            <a:avLst/>
          </a:prstGeom>
          <a:solidFill>
            <a:srgbClr val="F28C28"/>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280160" y="1234440"/>
            <a:ext cx="3566160" cy="274320"/>
          </a:xfrm>
          <a:prstGeom prst="rect">
            <a:avLst/>
          </a:prstGeom>
          <a:noFill/>
          <a:ln/>
        </p:spPr>
        <p:txBody>
          <a:bodyPr wrap="square" lIns="0" tIns="0" rIns="0" bIns="0" rtlCol="0" anchor="ctr"/>
          <a:lstStyle/>
          <a:p>
            <a:pPr marL="0" indent="0">
              <a:buNone/>
            </a:pPr>
            <a:r>
              <a:rPr lang="en-US" sz="1400" b="1" dirty="0">
                <a:solidFill>
                  <a:srgbClr val="1B2733"/>
                </a:solidFill>
                <a:latin typeface="Calibri" pitchFamily="34" charset="0"/>
                <a:ea typeface="Calibri" pitchFamily="34" charset="-122"/>
                <a:cs typeface="Calibri" pitchFamily="34" charset="-120"/>
              </a:rPr>
              <a:t>Random Search</a:t>
            </a:r>
            <a:endParaRPr lang="en-US" sz="1400" dirty="0"/>
          </a:p>
        </p:txBody>
      </p:sp>
      <p:sp>
        <p:nvSpPr>
          <p:cNvPr id="6" name="Text 4"/>
          <p:cNvSpPr txBox="1"/>
          <p:nvPr/>
        </p:nvSpPr>
        <p:spPr>
          <a:xfrm>
            <a:off x="1280160" y="1527048"/>
            <a:ext cx="3566160" cy="6400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10 candidates × 4-fold CV = 40 fits. Best CV ROC-AUC 0.9350: depth 6, lr 0.01, 300 trees, subsample 0.7, colsample 0.6, λ 1.</a:t>
            </a:r>
            <a:endParaRPr lang="en-US" sz="1050" dirty="0"/>
          </a:p>
        </p:txBody>
      </p:sp>
      <p:sp>
        <p:nvSpPr>
          <p:cNvPr id="7" name="Shape 5"/>
          <p:cNvSpPr/>
          <p:nvPr/>
        </p:nvSpPr>
        <p:spPr>
          <a:xfrm>
            <a:off x="457200" y="2304288"/>
            <a:ext cx="4480560" cy="1051560"/>
          </a:xfrm>
          <a:prstGeom prst="roundRect">
            <a:avLst>
              <a:gd name="adj" fmla="val 69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8" name="Text 6"/>
          <p:cNvSpPr txBox="1"/>
          <p:nvPr/>
        </p:nvSpPr>
        <p:spPr>
          <a:xfrm>
            <a:off x="621792" y="2578608"/>
            <a:ext cx="457200" cy="457200"/>
          </a:xfrm>
          <a:prstGeom prst="ellipse">
            <a:avLst/>
          </a:prstGeom>
          <a:solidFill>
            <a:srgbClr val="F28C28"/>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80160" y="2395728"/>
            <a:ext cx="3566160" cy="274320"/>
          </a:xfrm>
          <a:prstGeom prst="rect">
            <a:avLst/>
          </a:prstGeom>
          <a:noFill/>
          <a:ln/>
        </p:spPr>
        <p:txBody>
          <a:bodyPr wrap="square" lIns="0" tIns="0" rIns="0" bIns="0" rtlCol="0" anchor="ctr"/>
          <a:lstStyle/>
          <a:p>
            <a:pPr marL="0" indent="0">
              <a:buNone/>
            </a:pPr>
            <a:r>
              <a:rPr lang="en-US" sz="1400" b="1" dirty="0">
                <a:solidFill>
                  <a:srgbClr val="1B2733"/>
                </a:solidFill>
                <a:latin typeface="Calibri" pitchFamily="34" charset="0"/>
                <a:ea typeface="Calibri" pitchFamily="34" charset="-122"/>
                <a:cs typeface="Calibri" pitchFamily="34" charset="-120"/>
              </a:rPr>
              <a:t>Grid Search</a:t>
            </a:r>
            <a:endParaRPr lang="en-US" sz="1400" dirty="0"/>
          </a:p>
        </p:txBody>
      </p:sp>
      <p:sp>
        <p:nvSpPr>
          <p:cNvPr id="10" name="Text 8"/>
          <p:cNvSpPr txBox="1"/>
          <p:nvPr/>
        </p:nvSpPr>
        <p:spPr>
          <a:xfrm>
            <a:off x="1280160" y="2688336"/>
            <a:ext cx="3566160" cy="6400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54 candidates × 5-fold CV = 270 fits. Best CV ROC-AUC 0.9367: depth 5, lr 0.01, min_child_weight 7, 435 trees.</a:t>
            </a:r>
            <a:endParaRPr lang="en-US" sz="1050" dirty="0"/>
          </a:p>
        </p:txBody>
      </p:sp>
      <p:sp>
        <p:nvSpPr>
          <p:cNvPr id="11" name="Shape 9"/>
          <p:cNvSpPr/>
          <p:nvPr/>
        </p:nvSpPr>
        <p:spPr>
          <a:xfrm>
            <a:off x="457200" y="3465576"/>
            <a:ext cx="4480560" cy="1051560"/>
          </a:xfrm>
          <a:prstGeom prst="roundRect">
            <a:avLst>
              <a:gd name="adj" fmla="val 69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2" name="Text 10"/>
          <p:cNvSpPr txBox="1"/>
          <p:nvPr/>
        </p:nvSpPr>
        <p:spPr>
          <a:xfrm>
            <a:off x="621792" y="3739896"/>
            <a:ext cx="457200" cy="457200"/>
          </a:xfrm>
          <a:prstGeom prst="ellipse">
            <a:avLst/>
          </a:prstGeom>
          <a:solidFill>
            <a:srgbClr val="F28C28"/>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3" name="Text 11"/>
          <p:cNvSpPr txBox="1"/>
          <p:nvPr/>
        </p:nvSpPr>
        <p:spPr>
          <a:xfrm>
            <a:off x="1280160" y="3557016"/>
            <a:ext cx="3566160" cy="274320"/>
          </a:xfrm>
          <a:prstGeom prst="rect">
            <a:avLst/>
          </a:prstGeom>
          <a:noFill/>
          <a:ln/>
        </p:spPr>
        <p:txBody>
          <a:bodyPr wrap="square" lIns="0" tIns="0" rIns="0" bIns="0" rtlCol="0" anchor="ctr"/>
          <a:lstStyle/>
          <a:p>
            <a:pPr marL="0" indent="0">
              <a:buNone/>
            </a:pPr>
            <a:r>
              <a:rPr lang="en-US" sz="1400" b="1" dirty="0">
                <a:solidFill>
                  <a:srgbClr val="1B2733"/>
                </a:solidFill>
                <a:latin typeface="Calibri" pitchFamily="34" charset="0"/>
                <a:ea typeface="Calibri" pitchFamily="34" charset="-122"/>
                <a:cs typeface="Calibri" pitchFamily="34" charset="-120"/>
              </a:rPr>
              <a:t>Manual Search</a:t>
            </a:r>
            <a:endParaRPr lang="en-US" sz="1400" dirty="0"/>
          </a:p>
        </p:txBody>
      </p:sp>
      <p:sp>
        <p:nvSpPr>
          <p:cNvPr id="14" name="Text 12"/>
          <p:cNvSpPr txBox="1"/>
          <p:nvPr/>
        </p:nvSpPr>
        <p:spPr>
          <a:xfrm>
            <a:off x="1280160" y="3849624"/>
            <a:ext cx="3566160" cy="6400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scale_pos_weight at 0.6 / 0.8 / 1.0 × the class ratio (5.40). Chosen: 0.8 × = 4.32 (ROC-AUC 0.9272).</a:t>
            </a:r>
            <a:endParaRPr lang="en-US" sz="1050" dirty="0"/>
          </a:p>
        </p:txBody>
      </p:sp>
      <p:sp>
        <p:nvSpPr>
          <p:cNvPr id="15" name="Shape 13"/>
          <p:cNvSpPr/>
          <p:nvPr/>
        </p:nvSpPr>
        <p:spPr>
          <a:xfrm>
            <a:off x="5120640" y="1143000"/>
            <a:ext cx="3566160" cy="2331720"/>
          </a:xfrm>
          <a:prstGeom prst="roundRect">
            <a:avLst>
              <a:gd name="adj" fmla="val 313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graphicFrame>
        <p:nvGraphicFramePr>
          <p:cNvPr id="16" name="Chart 0"/>
          <p:cNvGraphicFramePr/>
          <p:nvPr/>
        </p:nvGraphicFramePr>
        <p:xfrm>
          <a:off x="5166360" y="1188720"/>
          <a:ext cx="3474720" cy="2240280"/>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5120640" y="3611880"/>
            <a:ext cx="3566160" cy="1033272"/>
          </a:xfrm>
          <a:prstGeom prst="roundRect">
            <a:avLst>
              <a:gd name="adj" fmla="val 7080"/>
            </a:avLst>
          </a:prstGeom>
          <a:solidFill>
            <a:srgbClr val="10263B"/>
          </a:solidFill>
          <a:ln w="12700">
            <a:solidFill>
              <a:srgbClr val="10263B"/>
            </a:solidFill>
            <a:prstDash val="solid"/>
          </a:ln>
          <a:effectLst>
            <a:outerShdw blurRad="101600" dist="25400" dir="5400000" algn="bl" rotWithShape="0">
              <a:srgbClr val="000000">
                <a:alpha val="10000"/>
              </a:srgbClr>
            </a:outerShdw>
          </a:effectLst>
        </p:spPr>
        <p:txBody>
          <a:bodyPr/>
          <a:lstStyle/>
          <a:p>
            <a:endParaRPr lang="en-NL"/>
          </a:p>
        </p:txBody>
      </p:sp>
      <p:sp>
        <p:nvSpPr>
          <p:cNvPr id="18" name="Text 15"/>
          <p:cNvSpPr txBox="1"/>
          <p:nvPr/>
        </p:nvSpPr>
        <p:spPr>
          <a:xfrm>
            <a:off x="5303520" y="3657600"/>
            <a:ext cx="3200400" cy="941832"/>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Tuning cut overfitting (train accuracy 97.41% → 92.94%) and lifted test ROC-AUC 0.9212 → 0.9285. Class weighting then raised Purchase recall from about 60% to 80%.</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Model Comparison</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303520" cy="2441448"/>
        </p:xfrm>
        <a:graphic>
          <a:graphicData uri="http://schemas.openxmlformats.org/drawingml/2006/table">
            <a:tbl>
              <a:tblPr/>
              <a:tblGrid>
                <a:gridCol w="20116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338328">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Test acc.</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Precision</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Recall</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ROC-AUC</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extLst>
                  <a:ext uri="{0D108BD9-81ED-4DB2-BD59-A6C34878D82A}">
                    <a16:rowId xmlns:a16="http://schemas.microsoft.com/office/drawing/2014/main" val="10000"/>
                  </a:ext>
                </a:extLst>
              </a:tr>
              <a:tr h="338328">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SGDClassifier</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87.51%</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0.8083</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8328">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Random Forest</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89.88%</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59%</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0.9204</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338328">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XGBoost baseline</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0.9212</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8328">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XGBoost: Random Search</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89.88%</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72%</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64%</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0.9285</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extLst>
                  <a:ext uri="{0D108BD9-81ED-4DB2-BD59-A6C34878D82A}">
                    <a16:rowId xmlns:a16="http://schemas.microsoft.com/office/drawing/2014/main" val="10004"/>
                  </a:ext>
                </a:extLst>
              </a:tr>
              <a:tr h="338328">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XGBoost: Grid Search</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89.76%</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0.9273</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8328">
                <a:tc>
                  <a:txBody>
                    <a:bodyPr/>
                    <a:lstStyle/>
                    <a:p>
                      <a:pPr marL="0" indent="0" algn="l">
                        <a:buNone/>
                      </a:pPr>
                      <a:r>
                        <a:rPr lang="en-US" sz="1050" b="1" dirty="0">
                          <a:solidFill>
                            <a:srgbClr val="1B2733"/>
                          </a:solidFill>
                          <a:latin typeface="Calibri" pitchFamily="34" charset="0"/>
                          <a:ea typeface="Calibri" pitchFamily="34" charset="-122"/>
                          <a:cs typeface="Calibri" pitchFamily="34" charset="-120"/>
                        </a:rPr>
                        <a:t>Final XGBoost (class-weighted)</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86.56%</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0.9272</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457200" y="3611880"/>
            <a:ext cx="5303520" cy="274320"/>
          </a:xfrm>
          <a:prstGeom prst="rect">
            <a:avLst/>
          </a:prstGeom>
          <a:noFill/>
          <a:ln/>
        </p:spPr>
        <p:txBody>
          <a:bodyPr wrap="square" lIns="0" tIns="0" rIns="0" bIns="0"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Precision, recall and F1 are for the Purchase class on the held-out test set (2,441 sessions).</a:t>
            </a:r>
            <a:endParaRPr lang="en-US" sz="950" dirty="0"/>
          </a:p>
        </p:txBody>
      </p:sp>
      <p:sp>
        <p:nvSpPr>
          <p:cNvPr id="5" name="Shape 2"/>
          <p:cNvSpPr/>
          <p:nvPr/>
        </p:nvSpPr>
        <p:spPr>
          <a:xfrm>
            <a:off x="5943600" y="1143000"/>
            <a:ext cx="2743200" cy="2606040"/>
          </a:xfrm>
          <a:prstGeom prst="roundRect">
            <a:avLst>
              <a:gd name="adj" fmla="val 280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6" name="Image 0" descr="/home/claude/deck/img/cm_final.png"/>
          <p:cNvPicPr>
            <a:picLocks noChangeAspect="1"/>
          </p:cNvPicPr>
          <p:nvPr/>
        </p:nvPicPr>
        <p:blipFill>
          <a:blip r:embed="rId3"/>
          <a:stretch>
            <a:fillRect/>
          </a:stretch>
        </p:blipFill>
        <p:spPr>
          <a:xfrm>
            <a:off x="6035040" y="1212058"/>
            <a:ext cx="2560320" cy="1955860"/>
          </a:xfrm>
          <a:prstGeom prst="rect">
            <a:avLst/>
          </a:prstGeom>
        </p:spPr>
      </p:pic>
      <p:sp>
        <p:nvSpPr>
          <p:cNvPr id="7" name="Text 3"/>
          <p:cNvSpPr txBox="1"/>
          <p:nvPr/>
        </p:nvSpPr>
        <p:spPr>
          <a:xfrm>
            <a:off x="6080760" y="3200400"/>
            <a:ext cx="2468880" cy="502920"/>
          </a:xfrm>
          <a:prstGeom prst="rect">
            <a:avLst/>
          </a:prstGeom>
          <a:noFill/>
          <a:ln/>
        </p:spPr>
        <p:txBody>
          <a:bodyPr wrap="square" lIns="0" tIns="0" rIns="0" bIns="0" rtlCol="0" anchor="t"/>
          <a:lstStyle/>
          <a:p>
            <a:pPr marL="0" indent="0">
              <a:buNone/>
            </a:pPr>
            <a:r>
              <a:rPr lang="en-US" sz="1000" dirty="0">
                <a:solidFill>
                  <a:srgbClr val="1B2733"/>
                </a:solidFill>
                <a:latin typeface="Calibri" pitchFamily="34" charset="0"/>
                <a:ea typeface="Calibri" pitchFamily="34" charset="-122"/>
                <a:cs typeface="Calibri" pitchFamily="34" charset="-120"/>
              </a:rPr>
              <a:t>Final model: 306 of 382 purchasers caught, 252 false positives.</a:t>
            </a:r>
            <a:endParaRPr lang="en-US" sz="1000" dirty="0"/>
          </a:p>
        </p:txBody>
      </p:sp>
      <p:sp>
        <p:nvSpPr>
          <p:cNvPr id="3" name="Shape 4"/>
          <p:cNvSpPr/>
          <p:nvPr/>
        </p:nvSpPr>
        <p:spPr>
          <a:xfrm>
            <a:off x="457200" y="3977640"/>
            <a:ext cx="2651760" cy="868680"/>
          </a:xfrm>
          <a:prstGeom prst="roundRect">
            <a:avLst>
              <a:gd name="adj" fmla="val 84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9" name="Text 5"/>
          <p:cNvSpPr txBox="1"/>
          <p:nvPr/>
        </p:nvSpPr>
        <p:spPr>
          <a:xfrm>
            <a:off x="594360" y="4023360"/>
            <a:ext cx="2377440" cy="411480"/>
          </a:xfrm>
          <a:prstGeom prst="rect">
            <a:avLst/>
          </a:prstGeom>
          <a:noFill/>
          <a:ln/>
        </p:spPr>
        <p:txBody>
          <a:bodyPr wrap="square" lIns="0" tIns="0" rIns="0" bIns="0" rtlCol="0" anchor="ctr"/>
          <a:lstStyle/>
          <a:p>
            <a:pPr marL="0" indent="0">
              <a:buNone/>
            </a:pPr>
            <a:r>
              <a:rPr lang="en-US" sz="2000" b="1" dirty="0">
                <a:solidFill>
                  <a:srgbClr val="F28C28"/>
                </a:solidFill>
                <a:latin typeface="Cambria" pitchFamily="34" charset="0"/>
                <a:ea typeface="Cambria" pitchFamily="34" charset="-122"/>
                <a:cs typeface="Cambria" pitchFamily="34" charset="-120"/>
              </a:rPr>
              <a:t>37% → 80%</a:t>
            </a:r>
            <a:endParaRPr lang="en-US" sz="2000" dirty="0"/>
          </a:p>
        </p:txBody>
      </p:sp>
      <p:sp>
        <p:nvSpPr>
          <p:cNvPr id="10" name="Text 6"/>
          <p:cNvSpPr txBox="1"/>
          <p:nvPr/>
        </p:nvSpPr>
        <p:spPr>
          <a:xfrm>
            <a:off x="594360" y="4434840"/>
            <a:ext cx="2423160" cy="365760"/>
          </a:xfrm>
          <a:prstGeom prst="rect">
            <a:avLst/>
          </a:prstGeom>
          <a:noFill/>
          <a:ln/>
        </p:spPr>
        <p:txBody>
          <a:bodyPr wrap="square" lIns="0" tIns="0" rIns="0" bIns="0" rtlCol="0" anchor="t"/>
          <a:lstStyle/>
          <a:p>
            <a:pPr marL="0" indent="0">
              <a:buNone/>
            </a:pPr>
            <a:r>
              <a:rPr lang="en-US" sz="1000" dirty="0">
                <a:solidFill>
                  <a:srgbClr val="5B6B7B"/>
                </a:solidFill>
                <a:latin typeface="Calibri" pitchFamily="34" charset="0"/>
                <a:ea typeface="Calibri" pitchFamily="34" charset="-122"/>
                <a:cs typeface="Calibri" pitchFamily="34" charset="-120"/>
              </a:rPr>
              <a:t>Purchase recall, SGD to final XGBoost</a:t>
            </a:r>
            <a:endParaRPr lang="en-US" sz="1000" dirty="0"/>
          </a:p>
        </p:txBody>
      </p:sp>
      <p:sp>
        <p:nvSpPr>
          <p:cNvPr id="11" name="Shape 7"/>
          <p:cNvSpPr/>
          <p:nvPr/>
        </p:nvSpPr>
        <p:spPr>
          <a:xfrm>
            <a:off x="3246120" y="3977640"/>
            <a:ext cx="2651760" cy="868680"/>
          </a:xfrm>
          <a:prstGeom prst="roundRect">
            <a:avLst>
              <a:gd name="adj" fmla="val 84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2" name="Text 8"/>
          <p:cNvSpPr txBox="1"/>
          <p:nvPr/>
        </p:nvSpPr>
        <p:spPr>
          <a:xfrm>
            <a:off x="3383280" y="4023360"/>
            <a:ext cx="2377440" cy="411480"/>
          </a:xfrm>
          <a:prstGeom prst="rect">
            <a:avLst/>
          </a:prstGeom>
          <a:noFill/>
          <a:ln/>
        </p:spPr>
        <p:txBody>
          <a:bodyPr wrap="square" lIns="0" tIns="0" rIns="0" bIns="0" rtlCol="0" anchor="ctr"/>
          <a:lstStyle/>
          <a:p>
            <a:pPr marL="0" indent="0">
              <a:buNone/>
            </a:pPr>
            <a:r>
              <a:rPr lang="en-US" sz="2000" b="1" dirty="0">
                <a:solidFill>
                  <a:srgbClr val="F28C28"/>
                </a:solidFill>
                <a:latin typeface="Cambria" pitchFamily="34" charset="0"/>
                <a:ea typeface="Cambria" pitchFamily="34" charset="-122"/>
                <a:cs typeface="Cambria" pitchFamily="34" charset="-120"/>
              </a:rPr>
              <a:t>0.808 → 0.927</a:t>
            </a:r>
            <a:endParaRPr lang="en-US" sz="2000" dirty="0"/>
          </a:p>
        </p:txBody>
      </p:sp>
      <p:sp>
        <p:nvSpPr>
          <p:cNvPr id="13" name="Text 9"/>
          <p:cNvSpPr txBox="1"/>
          <p:nvPr/>
        </p:nvSpPr>
        <p:spPr>
          <a:xfrm>
            <a:off x="3383280" y="4434840"/>
            <a:ext cx="2423160" cy="365760"/>
          </a:xfrm>
          <a:prstGeom prst="rect">
            <a:avLst/>
          </a:prstGeom>
          <a:noFill/>
          <a:ln/>
        </p:spPr>
        <p:txBody>
          <a:bodyPr wrap="square" lIns="0" tIns="0" rIns="0" bIns="0" rtlCol="0" anchor="t"/>
          <a:lstStyle/>
          <a:p>
            <a:pPr marL="0" indent="0">
              <a:buNone/>
            </a:pPr>
            <a:r>
              <a:rPr lang="en-US" sz="1000" dirty="0">
                <a:solidFill>
                  <a:srgbClr val="5B6B7B"/>
                </a:solidFill>
                <a:latin typeface="Calibri" pitchFamily="34" charset="0"/>
                <a:ea typeface="Calibri" pitchFamily="34" charset="-122"/>
                <a:cs typeface="Calibri" pitchFamily="34" charset="-120"/>
              </a:rPr>
              <a:t>ROC-AUC, SGD to final XGBoost</a:t>
            </a:r>
            <a:endParaRPr lang="en-US" sz="1000" dirty="0"/>
          </a:p>
        </p:txBody>
      </p:sp>
      <p:sp>
        <p:nvSpPr>
          <p:cNvPr id="14" name="Shape 10"/>
          <p:cNvSpPr/>
          <p:nvPr/>
        </p:nvSpPr>
        <p:spPr>
          <a:xfrm>
            <a:off x="6035040" y="3977640"/>
            <a:ext cx="2651760" cy="868680"/>
          </a:xfrm>
          <a:prstGeom prst="roundRect">
            <a:avLst>
              <a:gd name="adj" fmla="val 8421"/>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5" name="Text 11"/>
          <p:cNvSpPr txBox="1"/>
          <p:nvPr/>
        </p:nvSpPr>
        <p:spPr>
          <a:xfrm>
            <a:off x="6172200" y="4023360"/>
            <a:ext cx="2377440" cy="411480"/>
          </a:xfrm>
          <a:prstGeom prst="rect">
            <a:avLst/>
          </a:prstGeom>
          <a:noFill/>
          <a:ln/>
        </p:spPr>
        <p:txBody>
          <a:bodyPr wrap="square" lIns="0" tIns="0" rIns="0" bIns="0" rtlCol="0" anchor="ctr"/>
          <a:lstStyle/>
          <a:p>
            <a:pPr marL="0" indent="0">
              <a:buNone/>
            </a:pPr>
            <a:r>
              <a:rPr lang="en-US" sz="2000" b="1" dirty="0">
                <a:solidFill>
                  <a:srgbClr val="2F78B7"/>
                </a:solidFill>
                <a:latin typeface="Cambria" pitchFamily="34" charset="0"/>
                <a:ea typeface="Cambria" pitchFamily="34" charset="-122"/>
                <a:cs typeface="Cambria" pitchFamily="34" charset="-120"/>
              </a:rPr>
              <a:t>55%</a:t>
            </a:r>
            <a:endParaRPr lang="en-US" sz="2000" dirty="0"/>
          </a:p>
        </p:txBody>
      </p:sp>
      <p:sp>
        <p:nvSpPr>
          <p:cNvPr id="16" name="Text 12"/>
          <p:cNvSpPr txBox="1"/>
          <p:nvPr/>
        </p:nvSpPr>
        <p:spPr>
          <a:xfrm>
            <a:off x="6172200" y="4434840"/>
            <a:ext cx="2423160" cy="365760"/>
          </a:xfrm>
          <a:prstGeom prst="rect">
            <a:avLst/>
          </a:prstGeom>
          <a:noFill/>
          <a:ln/>
        </p:spPr>
        <p:txBody>
          <a:bodyPr wrap="square" lIns="0" tIns="0" rIns="0" bIns="0" rtlCol="0" anchor="t"/>
          <a:lstStyle/>
          <a:p>
            <a:pPr marL="0" indent="0">
              <a:buNone/>
            </a:pPr>
            <a:r>
              <a:rPr lang="en-US" sz="1000" dirty="0">
                <a:solidFill>
                  <a:srgbClr val="5B6B7B"/>
                </a:solidFill>
                <a:latin typeface="Calibri" pitchFamily="34" charset="0"/>
                <a:ea typeface="Calibri" pitchFamily="34" charset="-122"/>
                <a:cs typeface="Calibri" pitchFamily="34" charset="-120"/>
              </a:rPr>
              <a:t>Purchase precision: the price of catching more buyers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Key Findings: What Drives Purchases</a:t>
            </a:r>
            <a:endParaRPr lang="en-US" sz="3000" dirty="0"/>
          </a:p>
        </p:txBody>
      </p:sp>
      <p:sp>
        <p:nvSpPr>
          <p:cNvPr id="3" name="Shape 1"/>
          <p:cNvSpPr/>
          <p:nvPr/>
        </p:nvSpPr>
        <p:spPr>
          <a:xfrm>
            <a:off x="457200" y="1097280"/>
            <a:ext cx="3246120" cy="2697480"/>
          </a:xfrm>
          <a:prstGeom prst="roundRect">
            <a:avLst>
              <a:gd name="adj" fmla="val 271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4" name="Image 0" descr="/home/claude/deck/img/roc_compare.png"/>
          <p:cNvPicPr>
            <a:picLocks noChangeAspect="1"/>
          </p:cNvPicPr>
          <p:nvPr/>
        </p:nvPicPr>
        <p:blipFill>
          <a:blip r:embed="rId3"/>
          <a:stretch>
            <a:fillRect/>
          </a:stretch>
        </p:blipFill>
        <p:spPr>
          <a:xfrm>
            <a:off x="746998" y="1161288"/>
            <a:ext cx="2666525" cy="2103120"/>
          </a:xfrm>
          <a:prstGeom prst="rect">
            <a:avLst/>
          </a:prstGeom>
        </p:spPr>
      </p:pic>
      <p:sp>
        <p:nvSpPr>
          <p:cNvPr id="5" name="Text 2"/>
          <p:cNvSpPr txBox="1"/>
          <p:nvPr/>
        </p:nvSpPr>
        <p:spPr>
          <a:xfrm>
            <a:off x="594360" y="3246120"/>
            <a:ext cx="2971800" cy="502920"/>
          </a:xfrm>
          <a:prstGeom prst="rect">
            <a:avLst/>
          </a:prstGeom>
          <a:noFill/>
          <a:ln/>
        </p:spPr>
        <p:txBody>
          <a:bodyPr wrap="square" lIns="0" tIns="0" rIns="0" bIns="0" rtlCol="0" anchor="t"/>
          <a:lstStyle/>
          <a:p>
            <a:pPr marL="0" indent="0">
              <a:buNone/>
            </a:pPr>
            <a:r>
              <a:rPr lang="en-US" sz="1000" dirty="0">
                <a:solidFill>
                  <a:srgbClr val="1B2733"/>
                </a:solidFill>
                <a:latin typeface="Calibri" pitchFamily="34" charset="0"/>
                <a:ea typeface="Calibri" pitchFamily="34" charset="-122"/>
                <a:cs typeface="Calibri" pitchFamily="34" charset="-120"/>
              </a:rPr>
              <a:t>Final XGBoost (AUC 0.927) beats Random Forest (0.917) and default XGBoost (0.916).</a:t>
            </a:r>
            <a:endParaRPr lang="en-US" sz="1000" dirty="0"/>
          </a:p>
        </p:txBody>
      </p:sp>
      <p:sp>
        <p:nvSpPr>
          <p:cNvPr id="6" name="Shape 3"/>
          <p:cNvSpPr/>
          <p:nvPr/>
        </p:nvSpPr>
        <p:spPr>
          <a:xfrm>
            <a:off x="3886200" y="1097280"/>
            <a:ext cx="4800600" cy="2697480"/>
          </a:xfrm>
          <a:prstGeom prst="roundRect">
            <a:avLst>
              <a:gd name="adj" fmla="val 271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7" name="Image 1" descr="/home/claude/deck/img/feat_imp.png"/>
          <p:cNvPicPr>
            <a:picLocks noChangeAspect="1"/>
          </p:cNvPicPr>
          <p:nvPr/>
        </p:nvPicPr>
        <p:blipFill>
          <a:blip r:embed="rId4"/>
          <a:stretch>
            <a:fillRect/>
          </a:stretch>
        </p:blipFill>
        <p:spPr>
          <a:xfrm>
            <a:off x="4239335" y="1161288"/>
            <a:ext cx="4094331" cy="2103120"/>
          </a:xfrm>
          <a:prstGeom prst="rect">
            <a:avLst/>
          </a:prstGeom>
        </p:spPr>
      </p:pic>
      <p:sp>
        <p:nvSpPr>
          <p:cNvPr id="8" name="Text 4"/>
          <p:cNvSpPr txBox="1"/>
          <p:nvPr/>
        </p:nvSpPr>
        <p:spPr>
          <a:xfrm>
            <a:off x="4023360" y="3246120"/>
            <a:ext cx="4526280" cy="502920"/>
          </a:xfrm>
          <a:prstGeom prst="rect">
            <a:avLst/>
          </a:prstGeom>
          <a:noFill/>
          <a:ln/>
        </p:spPr>
        <p:txBody>
          <a:bodyPr wrap="square" lIns="0" tIns="0" rIns="0" bIns="0" rtlCol="0" anchor="t"/>
          <a:lstStyle/>
          <a:p>
            <a:pPr marL="0" indent="0">
              <a:buNone/>
            </a:pPr>
            <a:r>
              <a:rPr lang="en-US" sz="1000" dirty="0">
                <a:solidFill>
                  <a:srgbClr val="1B2733"/>
                </a:solidFill>
                <a:latin typeface="Calibri" pitchFamily="34" charset="0"/>
                <a:ea typeface="Calibri" pitchFamily="34" charset="-122"/>
                <a:cs typeface="Calibri" pitchFamily="34" charset="-120"/>
              </a:rPr>
              <a:t>PageValues dominates: importance 0.357 vs 0.084 for the next feature (November).</a:t>
            </a:r>
            <a:endParaRPr lang="en-US" sz="1000" dirty="0"/>
          </a:p>
        </p:txBody>
      </p:sp>
      <p:sp>
        <p:nvSpPr>
          <p:cNvPr id="9" name="Shape 5"/>
          <p:cNvSpPr/>
          <p:nvPr/>
        </p:nvSpPr>
        <p:spPr>
          <a:xfrm>
            <a:off x="457200" y="3977640"/>
            <a:ext cx="2651760" cy="777240"/>
          </a:xfrm>
          <a:prstGeom prst="roundRect">
            <a:avLst>
              <a:gd name="adj" fmla="val 941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0" name="Text 6"/>
          <p:cNvSpPr txBox="1"/>
          <p:nvPr/>
        </p:nvSpPr>
        <p:spPr>
          <a:xfrm>
            <a:off x="594360" y="4005072"/>
            <a:ext cx="2377440" cy="384048"/>
          </a:xfrm>
          <a:prstGeom prst="rect">
            <a:avLst/>
          </a:prstGeom>
          <a:noFill/>
          <a:ln/>
        </p:spPr>
        <p:txBody>
          <a:bodyPr wrap="square" lIns="0" tIns="0" rIns="0" bIns="0" rtlCol="0" anchor="ctr"/>
          <a:lstStyle/>
          <a:p>
            <a:pPr marL="0" indent="0">
              <a:buNone/>
            </a:pPr>
            <a:r>
              <a:rPr lang="en-US" sz="1800" b="1" dirty="0">
                <a:solidFill>
                  <a:srgbClr val="F28C28"/>
                </a:solidFill>
                <a:latin typeface="Cambria" pitchFamily="34" charset="0"/>
                <a:ea typeface="Cambria" pitchFamily="34" charset="-122"/>
                <a:cs typeface="Cambria" pitchFamily="34" charset="-120"/>
              </a:rPr>
              <a:t>27.26 vs 2.00</a:t>
            </a:r>
            <a:endParaRPr lang="en-US" sz="1800" dirty="0"/>
          </a:p>
        </p:txBody>
      </p:sp>
      <p:sp>
        <p:nvSpPr>
          <p:cNvPr id="11" name="Text 7"/>
          <p:cNvSpPr txBox="1"/>
          <p:nvPr/>
        </p:nvSpPr>
        <p:spPr>
          <a:xfrm>
            <a:off x="594360" y="4389120"/>
            <a:ext cx="2423160" cy="320040"/>
          </a:xfrm>
          <a:prstGeom prst="rect">
            <a:avLst/>
          </a:prstGeom>
          <a:noFill/>
          <a:ln/>
        </p:spPr>
        <p:txBody>
          <a:bodyPr wrap="square" lIns="0" tIns="0" rIns="0" bIns="0" rtlCol="0" anchor="t"/>
          <a:lstStyle/>
          <a:p>
            <a:pPr marL="0" indent="0">
              <a:buNone/>
            </a:pPr>
            <a:r>
              <a:rPr lang="en-US" sz="1000" dirty="0">
                <a:solidFill>
                  <a:srgbClr val="5B6B7B"/>
                </a:solidFill>
                <a:latin typeface="Calibri" pitchFamily="34" charset="0"/>
                <a:ea typeface="Calibri" pitchFamily="34" charset="-122"/>
                <a:cs typeface="Calibri" pitchFamily="34" charset="-120"/>
              </a:rPr>
              <a:t>average PageValues: buyers vs non-buyers</a:t>
            </a:r>
            <a:endParaRPr lang="en-US" sz="1000" dirty="0"/>
          </a:p>
        </p:txBody>
      </p:sp>
      <p:sp>
        <p:nvSpPr>
          <p:cNvPr id="12" name="Shape 8"/>
          <p:cNvSpPr/>
          <p:nvPr/>
        </p:nvSpPr>
        <p:spPr>
          <a:xfrm>
            <a:off x="3246120" y="3977640"/>
            <a:ext cx="2651760" cy="777240"/>
          </a:xfrm>
          <a:prstGeom prst="roundRect">
            <a:avLst>
              <a:gd name="adj" fmla="val 941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3" name="Text 9"/>
          <p:cNvSpPr txBox="1"/>
          <p:nvPr/>
        </p:nvSpPr>
        <p:spPr>
          <a:xfrm>
            <a:off x="3383280" y="4005072"/>
            <a:ext cx="2377440" cy="384048"/>
          </a:xfrm>
          <a:prstGeom prst="rect">
            <a:avLst/>
          </a:prstGeom>
          <a:noFill/>
          <a:ln/>
        </p:spPr>
        <p:txBody>
          <a:bodyPr wrap="square" lIns="0" tIns="0" rIns="0" bIns="0" rtlCol="0" anchor="ctr"/>
          <a:lstStyle/>
          <a:p>
            <a:pPr marL="0" indent="0">
              <a:buNone/>
            </a:pPr>
            <a:r>
              <a:rPr lang="en-US" sz="1800" b="1" dirty="0">
                <a:solidFill>
                  <a:srgbClr val="F28C28"/>
                </a:solidFill>
                <a:latin typeface="Cambria" pitchFamily="34" charset="0"/>
                <a:ea typeface="Cambria" pitchFamily="34" charset="-122"/>
                <a:cs typeface="Cambria" pitchFamily="34" charset="-120"/>
              </a:rPr>
              <a:t>25.5% vs 1.7%</a:t>
            </a:r>
            <a:endParaRPr lang="en-US" sz="1800" dirty="0"/>
          </a:p>
        </p:txBody>
      </p:sp>
      <p:sp>
        <p:nvSpPr>
          <p:cNvPr id="14" name="Text 10"/>
          <p:cNvSpPr txBox="1"/>
          <p:nvPr/>
        </p:nvSpPr>
        <p:spPr>
          <a:xfrm>
            <a:off x="3383280" y="4389120"/>
            <a:ext cx="2423160" cy="320040"/>
          </a:xfrm>
          <a:prstGeom prst="rect">
            <a:avLst/>
          </a:prstGeom>
          <a:noFill/>
          <a:ln/>
        </p:spPr>
        <p:txBody>
          <a:bodyPr wrap="square" lIns="0" tIns="0" rIns="0" bIns="0" rtlCol="0" anchor="t"/>
          <a:lstStyle/>
          <a:p>
            <a:pPr marL="0" indent="0">
              <a:buNone/>
            </a:pPr>
            <a:r>
              <a:rPr lang="en-US" sz="1000" dirty="0">
                <a:solidFill>
                  <a:srgbClr val="5B6B7B"/>
                </a:solidFill>
                <a:latin typeface="Calibri" pitchFamily="34" charset="0"/>
                <a:ea typeface="Calibri" pitchFamily="34" charset="-122"/>
                <a:cs typeface="Calibri" pitchFamily="34" charset="-120"/>
              </a:rPr>
              <a:t>purchase rate: November vs February</a:t>
            </a:r>
            <a:endParaRPr lang="en-US" sz="1000" dirty="0"/>
          </a:p>
        </p:txBody>
      </p:sp>
      <p:sp>
        <p:nvSpPr>
          <p:cNvPr id="15" name="Shape 11"/>
          <p:cNvSpPr/>
          <p:nvPr/>
        </p:nvSpPr>
        <p:spPr>
          <a:xfrm>
            <a:off x="6035040" y="3977640"/>
            <a:ext cx="2651760" cy="777240"/>
          </a:xfrm>
          <a:prstGeom prst="roundRect">
            <a:avLst>
              <a:gd name="adj" fmla="val 9412"/>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16" name="Text 12"/>
          <p:cNvSpPr txBox="1"/>
          <p:nvPr/>
        </p:nvSpPr>
        <p:spPr>
          <a:xfrm>
            <a:off x="6172200" y="4005072"/>
            <a:ext cx="2377440" cy="384048"/>
          </a:xfrm>
          <a:prstGeom prst="rect">
            <a:avLst/>
          </a:prstGeom>
          <a:noFill/>
          <a:ln/>
        </p:spPr>
        <p:txBody>
          <a:bodyPr wrap="square" lIns="0" tIns="0" rIns="0" bIns="0" rtlCol="0" anchor="ctr"/>
          <a:lstStyle/>
          <a:p>
            <a:pPr marL="0" indent="0">
              <a:buNone/>
            </a:pPr>
            <a:r>
              <a:rPr lang="en-US" sz="1800" b="1" dirty="0">
                <a:solidFill>
                  <a:srgbClr val="F28C28"/>
                </a:solidFill>
                <a:latin typeface="Cambria" pitchFamily="34" charset="0"/>
                <a:ea typeface="Cambria" pitchFamily="34" charset="-122"/>
                <a:cs typeface="Cambria" pitchFamily="34" charset="-120"/>
              </a:rPr>
              <a:t>24.9% vs 14.1%</a:t>
            </a:r>
            <a:endParaRPr lang="en-US" sz="1800" dirty="0"/>
          </a:p>
        </p:txBody>
      </p:sp>
      <p:sp>
        <p:nvSpPr>
          <p:cNvPr id="17" name="Text 13"/>
          <p:cNvSpPr txBox="1"/>
          <p:nvPr/>
        </p:nvSpPr>
        <p:spPr>
          <a:xfrm>
            <a:off x="6172200" y="4389120"/>
            <a:ext cx="2423160" cy="320040"/>
          </a:xfrm>
          <a:prstGeom prst="rect">
            <a:avLst/>
          </a:prstGeom>
          <a:noFill/>
          <a:ln/>
        </p:spPr>
        <p:txBody>
          <a:bodyPr wrap="square" lIns="0" tIns="0" rIns="0" bIns="0" rtlCol="0" anchor="t"/>
          <a:lstStyle/>
          <a:p>
            <a:pPr marL="0" indent="0">
              <a:buNone/>
            </a:pPr>
            <a:r>
              <a:rPr lang="en-US" sz="1000" dirty="0">
                <a:solidFill>
                  <a:srgbClr val="5B6B7B"/>
                </a:solidFill>
                <a:latin typeface="Calibri" pitchFamily="34" charset="0"/>
                <a:ea typeface="Calibri" pitchFamily="34" charset="-122"/>
                <a:cs typeface="Calibri" pitchFamily="34" charset="-120"/>
              </a:rPr>
              <a:t>purchase rate: new vs returning visitors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Key Findings: From Predictions to Action</a:t>
            </a:r>
            <a:endParaRPr lang="en-US" sz="3000" dirty="0"/>
          </a:p>
        </p:txBody>
      </p:sp>
      <p:sp>
        <p:nvSpPr>
          <p:cNvPr id="3" name="Shape 1"/>
          <p:cNvSpPr/>
          <p:nvPr/>
        </p:nvSpPr>
        <p:spPr>
          <a:xfrm>
            <a:off x="457200" y="1097280"/>
            <a:ext cx="4206240" cy="3611880"/>
          </a:xfrm>
          <a:prstGeom prst="roundRect">
            <a:avLst>
              <a:gd name="adj" fmla="val 2025"/>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pic>
        <p:nvPicPr>
          <p:cNvPr id="4" name="Image 0" descr="/home/claude/deck/img/segments.png"/>
          <p:cNvPicPr>
            <a:picLocks noChangeAspect="1"/>
          </p:cNvPicPr>
          <p:nvPr/>
        </p:nvPicPr>
        <p:blipFill>
          <a:blip r:embed="rId3"/>
          <a:stretch>
            <a:fillRect/>
          </a:stretch>
        </p:blipFill>
        <p:spPr>
          <a:xfrm>
            <a:off x="548640" y="1256658"/>
            <a:ext cx="4023360" cy="3293125"/>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846320" y="1097280"/>
          <a:ext cx="3840480" cy="1316736"/>
        </p:xfrm>
        <a:graphic>
          <a:graphicData uri="http://schemas.openxmlformats.org/drawingml/2006/table">
            <a:tbl>
              <a:tblPr/>
              <a:tblGrid>
                <a:gridCol w="123444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329184">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Segment</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Sessions</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Purchases</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Purchase rate</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10263B"/>
                    </a:solidFill>
                  </a:tcPr>
                </a:tc>
                <a:extLst>
                  <a:ext uri="{0D108BD9-81ED-4DB2-BD59-A6C34878D82A}">
                    <a16:rowId xmlns:a16="http://schemas.microsoft.com/office/drawing/2014/main" val="10000"/>
                  </a:ext>
                </a:extLst>
              </a:tr>
              <a:tr h="329184">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Low (&lt;30%)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1,666</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2.40%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lgn="l">
                        <a:buNone/>
                      </a:pPr>
                      <a:r>
                        <a:rPr lang="en-US" sz="1050" dirty="0">
                          <a:solidFill>
                            <a:srgbClr val="1B2733"/>
                          </a:solidFill>
                          <a:latin typeface="Calibri" pitchFamily="34" charset="0"/>
                          <a:ea typeface="Calibri" pitchFamily="34" charset="-122"/>
                          <a:cs typeface="Calibri" pitchFamily="34" charset="-120"/>
                        </a:rPr>
                        <a:t>Medium (30–70%)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359</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tc>
                  <a:txBody>
                    <a:bodyPr/>
                    <a:lstStyle/>
                    <a:p>
                      <a:pPr marL="0" indent="0" algn="ctr">
                        <a:buNone/>
                      </a:pPr>
                      <a:r>
                        <a:rPr lang="en-US" sz="1050" dirty="0">
                          <a:solidFill>
                            <a:srgbClr val="1B2733"/>
                          </a:solidFill>
                          <a:latin typeface="Calibri" pitchFamily="34" charset="0"/>
                          <a:ea typeface="Calibri" pitchFamily="34" charset="-122"/>
                          <a:cs typeface="Calibri" pitchFamily="34" charset="-120"/>
                        </a:rPr>
                        <a:t>18.94%</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4F6F9"/>
                    </a:solidFill>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1B2733"/>
                          </a:solidFill>
                          <a:latin typeface="Calibri" pitchFamily="34" charset="0"/>
                          <a:ea typeface="Calibri" pitchFamily="34" charset="-122"/>
                          <a:cs typeface="Calibri" pitchFamily="34" charset="-120"/>
                        </a:rPr>
                        <a:t>High (&gt;70%)</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416</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274</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tc>
                  <a:txBody>
                    <a:bodyPr/>
                    <a:lstStyle/>
                    <a:p>
                      <a:pPr marL="0" indent="0" algn="ctr">
                        <a:buNone/>
                      </a:pPr>
                      <a:r>
                        <a:rPr lang="en-US" sz="1050" b="1" dirty="0">
                          <a:solidFill>
                            <a:srgbClr val="1B2733"/>
                          </a:solidFill>
                          <a:latin typeface="Calibri" pitchFamily="34" charset="0"/>
                          <a:ea typeface="Calibri" pitchFamily="34" charset="-122"/>
                          <a:cs typeface="Calibri" pitchFamily="34" charset="-120"/>
                        </a:rPr>
                        <a:t>65.87%</a:t>
                      </a:r>
                      <a:endParaRPr lang="en-US" sz="1050" dirty="0">
                        <a:latin typeface="Calibri" charset="0"/>
                        <a:ea typeface="Calibri" charset="0"/>
                        <a:cs typeface="Calibri" charset="0"/>
                      </a:endParaRPr>
                    </a:p>
                  </a:txBody>
                  <a:tcPr anchor="ctr">
                    <a:lnL w="6350" cap="flat" cmpd="sng" algn="ctr">
                      <a:solidFill>
                        <a:srgbClr val="E3E8EE"/>
                      </a:solidFill>
                      <a:prstDash val="solid"/>
                      <a:round/>
                      <a:headEnd type="none" w="med" len="med"/>
                      <a:tailEnd type="none" w="med" len="med"/>
                    </a:lnL>
                    <a:lnR w="6350" cap="flat" cmpd="sng" algn="ctr">
                      <a:solidFill>
                        <a:srgbClr val="E3E8EE"/>
                      </a:solidFill>
                      <a:prstDash val="solid"/>
                      <a:round/>
                      <a:headEnd type="none" w="med" len="med"/>
                      <a:tailEnd type="none" w="med" len="med"/>
                    </a:lnR>
                    <a:lnT w="6350" cap="flat" cmpd="sng" algn="ctr">
                      <a:solidFill>
                        <a:srgbClr val="E3E8EE"/>
                      </a:solidFill>
                      <a:prstDash val="solid"/>
                      <a:round/>
                      <a:headEnd type="none" w="med" len="med"/>
                      <a:tailEnd type="none" w="med" len="med"/>
                    </a:lnT>
                    <a:lnB w="6350" cap="flat" cmpd="sng" algn="ctr">
                      <a:solidFill>
                        <a:srgbClr val="E3E8EE"/>
                      </a:solidFill>
                      <a:prstDash val="solid"/>
                      <a:round/>
                      <a:headEnd type="none" w="med" len="med"/>
                      <a:tailEnd type="none" w="med" len="med"/>
                    </a:lnB>
                    <a:solidFill>
                      <a:srgbClr val="FFE9D2"/>
                    </a:solidFill>
                  </a:tcPr>
                </a:tc>
                <a:extLst>
                  <a:ext uri="{0D108BD9-81ED-4DB2-BD59-A6C34878D82A}">
                    <a16:rowId xmlns:a16="http://schemas.microsoft.com/office/drawing/2014/main" val="10003"/>
                  </a:ext>
                </a:extLst>
              </a:tr>
            </a:tbl>
          </a:graphicData>
        </a:graphic>
      </p:graphicFrame>
      <p:sp>
        <p:nvSpPr>
          <p:cNvPr id="6" name="Shape 2"/>
          <p:cNvSpPr/>
          <p:nvPr/>
        </p:nvSpPr>
        <p:spPr>
          <a:xfrm>
            <a:off x="4846320" y="2560320"/>
            <a:ext cx="3840480" cy="1051560"/>
          </a:xfrm>
          <a:prstGeom prst="roundRect">
            <a:avLst>
              <a:gd name="adj" fmla="val 6957"/>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sp>
        <p:nvSpPr>
          <p:cNvPr id="7" name="Text 3"/>
          <p:cNvSpPr txBox="1"/>
          <p:nvPr/>
        </p:nvSpPr>
        <p:spPr>
          <a:xfrm>
            <a:off x="5029200" y="2606040"/>
            <a:ext cx="1371600" cy="502920"/>
          </a:xfrm>
          <a:prstGeom prst="rect">
            <a:avLst/>
          </a:prstGeom>
          <a:noFill/>
          <a:ln/>
        </p:spPr>
        <p:txBody>
          <a:bodyPr wrap="square" lIns="0" tIns="0" rIns="0" bIns="0" rtlCol="0" anchor="ctr"/>
          <a:lstStyle/>
          <a:p>
            <a:pPr marL="0" indent="0">
              <a:buNone/>
            </a:pPr>
            <a:r>
              <a:rPr lang="en-US" sz="2600" b="1" dirty="0">
                <a:solidFill>
                  <a:srgbClr val="F28C28"/>
                </a:solidFill>
                <a:latin typeface="Cambria" pitchFamily="34" charset="0"/>
                <a:ea typeface="Cambria" pitchFamily="34" charset="-122"/>
                <a:cs typeface="Cambria" pitchFamily="34" charset="-120"/>
              </a:rPr>
              <a:t>89.5%</a:t>
            </a:r>
            <a:endParaRPr lang="en-US" sz="2600" dirty="0"/>
          </a:p>
        </p:txBody>
      </p:sp>
      <p:sp>
        <p:nvSpPr>
          <p:cNvPr id="8" name="Text 4"/>
          <p:cNvSpPr txBox="1"/>
          <p:nvPr/>
        </p:nvSpPr>
        <p:spPr>
          <a:xfrm>
            <a:off x="5029200" y="3108960"/>
            <a:ext cx="3520440" cy="45720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of all purchases (342 of 382) come from the Medium + High segments, which are only 31.8% of sessions.</a:t>
            </a:r>
            <a:endParaRPr lang="en-US" sz="1050" dirty="0"/>
          </a:p>
        </p:txBody>
      </p:sp>
      <p:sp>
        <p:nvSpPr>
          <p:cNvPr id="9" name="Shape 5"/>
          <p:cNvSpPr/>
          <p:nvPr/>
        </p:nvSpPr>
        <p:spPr>
          <a:xfrm>
            <a:off x="4846320" y="3749040"/>
            <a:ext cx="3840480" cy="960120"/>
          </a:xfrm>
          <a:prstGeom prst="roundRect">
            <a:avLst>
              <a:gd name="adj" fmla="val 7619"/>
            </a:avLst>
          </a:prstGeom>
          <a:solidFill>
            <a:srgbClr val="10263B"/>
          </a:solidFill>
          <a:ln w="12700">
            <a:solidFill>
              <a:srgbClr val="10263B"/>
            </a:solidFill>
            <a:prstDash val="solid"/>
          </a:ln>
          <a:effectLst>
            <a:outerShdw blurRad="101600" dist="25400" dir="5400000" algn="bl" rotWithShape="0">
              <a:srgbClr val="000000">
                <a:alpha val="10000"/>
              </a:srgbClr>
            </a:outerShdw>
          </a:effectLst>
        </p:spPr>
        <p:txBody>
          <a:bodyPr/>
          <a:lstStyle/>
          <a:p>
            <a:endParaRPr lang="en-NL"/>
          </a:p>
        </p:txBody>
      </p:sp>
      <p:sp>
        <p:nvSpPr>
          <p:cNvPr id="5" name="Text 6"/>
          <p:cNvSpPr txBox="1"/>
          <p:nvPr/>
        </p:nvSpPr>
        <p:spPr>
          <a:xfrm>
            <a:off x="5029200" y="3776472"/>
            <a:ext cx="3520440" cy="914400"/>
          </a:xfrm>
          <a:prstGeom prst="rect">
            <a:avLst/>
          </a:prstGeom>
          <a:noFill/>
          <a:ln/>
        </p:spPr>
        <p:txBody>
          <a:bodyPr wrap="square" lIns="0" tIns="0" rIns="0" bIns="0" rtlCol="0" anchor="ctr"/>
          <a:lstStyle/>
          <a:p>
            <a:pPr marL="0" indent="0">
              <a:buNone/>
            </a:pPr>
            <a:r>
              <a:rPr lang="en-US" sz="1050" b="1" dirty="0">
                <a:solidFill>
                  <a:srgbClr val="F28C28"/>
                </a:solidFill>
                <a:latin typeface="Calibri" pitchFamily="34" charset="0"/>
                <a:ea typeface="Calibri" pitchFamily="34" charset="-122"/>
                <a:cs typeface="Calibri" pitchFamily="34" charset="-120"/>
              </a:rPr>
              <a:t>Without ML: </a:t>
            </a:r>
            <a:r>
              <a:rPr lang="en-US" sz="1050" dirty="0">
                <a:solidFill>
                  <a:srgbClr val="FFFFFF"/>
                </a:solidFill>
                <a:latin typeface="Calibri" pitchFamily="34" charset="0"/>
                <a:ea typeface="Calibri" pitchFamily="34" charset="-122"/>
                <a:cs typeface="Calibri" pitchFamily="34" charset="-120"/>
              </a:rPr>
              <a:t>all sessions look alike (15.65% purchase rate).</a:t>
            </a:r>
            <a:endParaRPr lang="en-US" sz="1050" dirty="0"/>
          </a:p>
          <a:p>
            <a:pPr marL="0" indent="0">
              <a:buNone/>
            </a:pPr>
            <a:r>
              <a:rPr lang="en-US" sz="1050" b="1" dirty="0">
                <a:solidFill>
                  <a:srgbClr val="F28C28"/>
                </a:solidFill>
                <a:latin typeface="Calibri" pitchFamily="34" charset="0"/>
                <a:ea typeface="Calibri" pitchFamily="34" charset="-122"/>
                <a:cs typeface="Calibri" pitchFamily="34" charset="-120"/>
              </a:rPr>
              <a:t>With XGBoost: </a:t>
            </a:r>
            <a:r>
              <a:rPr lang="en-US" sz="1050" dirty="0">
                <a:solidFill>
                  <a:srgbClr val="FFFFFF"/>
                </a:solidFill>
                <a:latin typeface="Calibri" pitchFamily="34" charset="0"/>
                <a:ea typeface="Calibri" pitchFamily="34" charset="-122"/>
                <a:cs typeface="Calibri" pitchFamily="34" charset="-120"/>
              </a:rPr>
              <a:t>High-Intent sessions convert at 65.87%. Thresholds are illustrative; an A/B test is needed to prove lift.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9"/>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3000" b="1" dirty="0">
                <a:solidFill>
                  <a:srgbClr val="1B2733"/>
                </a:solidFill>
                <a:latin typeface="Cambria" pitchFamily="34" charset="0"/>
                <a:ea typeface="Cambria" pitchFamily="34" charset="-122"/>
                <a:cs typeface="Cambria" pitchFamily="34" charset="-120"/>
              </a:rPr>
              <a:t>Future Work &amp; Improvements</a:t>
            </a:r>
            <a:endParaRPr lang="en-US" sz="3000" dirty="0"/>
          </a:p>
        </p:txBody>
      </p:sp>
      <p:sp>
        <p:nvSpPr>
          <p:cNvPr id="3" name="Text 1"/>
          <p:cNvSpPr txBox="1"/>
          <p:nvPr/>
        </p:nvSpPr>
        <p:spPr>
          <a:xfrm>
            <a:off x="457200" y="1188720"/>
            <a:ext cx="384048" cy="384048"/>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4" name="Text 2"/>
          <p:cNvSpPr txBox="1"/>
          <p:nvPr/>
        </p:nvSpPr>
        <p:spPr>
          <a:xfrm>
            <a:off x="1005840" y="1097280"/>
            <a:ext cx="3566160" cy="256032"/>
          </a:xfrm>
          <a:prstGeom prst="rect">
            <a:avLst/>
          </a:prstGeom>
          <a:noFill/>
          <a:ln/>
        </p:spPr>
        <p:txBody>
          <a:bodyPr wrap="square" lIns="0" tIns="0" rIns="0" bIns="0" rtlCol="0" anchor="ctr"/>
          <a:lstStyle/>
          <a:p>
            <a:pPr marL="0" indent="0">
              <a:buNone/>
            </a:pPr>
            <a:r>
              <a:rPr lang="en-US" sz="1300" b="1" dirty="0">
                <a:solidFill>
                  <a:srgbClr val="1B2733"/>
                </a:solidFill>
                <a:latin typeface="Calibri" pitchFamily="34" charset="0"/>
                <a:ea typeface="Calibri" pitchFamily="34" charset="-122"/>
                <a:cs typeface="Calibri" pitchFamily="34" charset="-120"/>
              </a:rPr>
              <a:t>Deployment threshold</a:t>
            </a:r>
            <a:endParaRPr lang="en-US" sz="1300" dirty="0"/>
          </a:p>
        </p:txBody>
      </p:sp>
      <p:sp>
        <p:nvSpPr>
          <p:cNvPr id="5" name="Text 3"/>
          <p:cNvSpPr txBox="1"/>
          <p:nvPr/>
        </p:nvSpPr>
        <p:spPr>
          <a:xfrm>
            <a:off x="1005840" y="1362456"/>
            <a:ext cx="356616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Choose the cut-off from validation data and the business cost of a missed buyer.</a:t>
            </a:r>
            <a:endParaRPr lang="en-US" sz="1050" dirty="0"/>
          </a:p>
        </p:txBody>
      </p:sp>
      <p:sp>
        <p:nvSpPr>
          <p:cNvPr id="6" name="Text 4"/>
          <p:cNvSpPr txBox="1"/>
          <p:nvPr/>
        </p:nvSpPr>
        <p:spPr>
          <a:xfrm>
            <a:off x="457200" y="1920240"/>
            <a:ext cx="384048" cy="384048"/>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7" name="Text 5"/>
          <p:cNvSpPr txBox="1"/>
          <p:nvPr/>
        </p:nvSpPr>
        <p:spPr>
          <a:xfrm>
            <a:off x="1005840" y="1828800"/>
            <a:ext cx="3566160" cy="256032"/>
          </a:xfrm>
          <a:prstGeom prst="rect">
            <a:avLst/>
          </a:prstGeom>
          <a:noFill/>
          <a:ln/>
        </p:spPr>
        <p:txBody>
          <a:bodyPr wrap="square" lIns="0" tIns="0" rIns="0" bIns="0" rtlCol="0" anchor="ctr"/>
          <a:lstStyle/>
          <a:p>
            <a:pPr marL="0" indent="0">
              <a:buNone/>
            </a:pPr>
            <a:r>
              <a:rPr lang="en-US" sz="1300" b="1" dirty="0">
                <a:solidFill>
                  <a:srgbClr val="1B2733"/>
                </a:solidFill>
                <a:latin typeface="Calibri" pitchFamily="34" charset="0"/>
                <a:ea typeface="Calibri" pitchFamily="34" charset="-122"/>
                <a:cs typeface="Calibri" pitchFamily="34" charset="-120"/>
              </a:rPr>
              <a:t>Model without PageValues</a:t>
            </a:r>
            <a:endParaRPr lang="en-US" sz="1300" dirty="0"/>
          </a:p>
        </p:txBody>
      </p:sp>
      <p:sp>
        <p:nvSpPr>
          <p:cNvPr id="8" name="Text 6"/>
          <p:cNvSpPr txBox="1"/>
          <p:nvPr/>
        </p:nvSpPr>
        <p:spPr>
          <a:xfrm>
            <a:off x="1005840" y="2093976"/>
            <a:ext cx="356616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Check how much power remains if it is unavailable at decision time.</a:t>
            </a:r>
            <a:endParaRPr lang="en-US" sz="1050" dirty="0"/>
          </a:p>
        </p:txBody>
      </p:sp>
      <p:sp>
        <p:nvSpPr>
          <p:cNvPr id="9" name="Text 7"/>
          <p:cNvSpPr txBox="1"/>
          <p:nvPr/>
        </p:nvSpPr>
        <p:spPr>
          <a:xfrm>
            <a:off x="457200" y="2651760"/>
            <a:ext cx="384048" cy="384048"/>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1005840" y="2560320"/>
            <a:ext cx="3566160" cy="256032"/>
          </a:xfrm>
          <a:prstGeom prst="rect">
            <a:avLst/>
          </a:prstGeom>
          <a:noFill/>
          <a:ln/>
        </p:spPr>
        <p:txBody>
          <a:bodyPr wrap="square" lIns="0" tIns="0" rIns="0" bIns="0" rtlCol="0" anchor="ctr"/>
          <a:lstStyle/>
          <a:p>
            <a:pPr marL="0" indent="0">
              <a:buNone/>
            </a:pPr>
            <a:r>
              <a:rPr lang="en-US" sz="1300" b="1" dirty="0">
                <a:solidFill>
                  <a:srgbClr val="1B2733"/>
                </a:solidFill>
                <a:latin typeface="Calibri" pitchFamily="34" charset="0"/>
                <a:ea typeface="Calibri" pitchFamily="34" charset="-122"/>
                <a:cs typeface="Calibri" pitchFamily="34" charset="-120"/>
              </a:rPr>
              <a:t>Session sequence models</a:t>
            </a:r>
            <a:endParaRPr lang="en-US" sz="1300" dirty="0"/>
          </a:p>
        </p:txBody>
      </p:sp>
      <p:sp>
        <p:nvSpPr>
          <p:cNvPr id="11" name="Text 9"/>
          <p:cNvSpPr txBox="1"/>
          <p:nvPr/>
        </p:nvSpPr>
        <p:spPr>
          <a:xfrm>
            <a:off x="1005840" y="2825496"/>
            <a:ext cx="356616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Use event-level clickstream data to capture order and timing of actions.</a:t>
            </a:r>
            <a:endParaRPr lang="en-US" sz="1050" dirty="0"/>
          </a:p>
        </p:txBody>
      </p:sp>
      <p:sp>
        <p:nvSpPr>
          <p:cNvPr id="12" name="Text 10"/>
          <p:cNvSpPr txBox="1"/>
          <p:nvPr/>
        </p:nvSpPr>
        <p:spPr>
          <a:xfrm>
            <a:off x="457200" y="3383280"/>
            <a:ext cx="384048" cy="384048"/>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3" name="Text 11"/>
          <p:cNvSpPr txBox="1"/>
          <p:nvPr/>
        </p:nvSpPr>
        <p:spPr>
          <a:xfrm>
            <a:off x="1005840" y="3291840"/>
            <a:ext cx="3566160" cy="256032"/>
          </a:xfrm>
          <a:prstGeom prst="rect">
            <a:avLst/>
          </a:prstGeom>
          <a:noFill/>
          <a:ln/>
        </p:spPr>
        <p:txBody>
          <a:bodyPr wrap="square" lIns="0" tIns="0" rIns="0" bIns="0" rtlCol="0" anchor="ctr"/>
          <a:lstStyle/>
          <a:p>
            <a:pPr marL="0" indent="0">
              <a:buNone/>
            </a:pPr>
            <a:r>
              <a:rPr lang="en-US" sz="1300" b="1" dirty="0">
                <a:solidFill>
                  <a:srgbClr val="1B2733"/>
                </a:solidFill>
                <a:latin typeface="Calibri" pitchFamily="34" charset="0"/>
                <a:ea typeface="Calibri" pitchFamily="34" charset="-122"/>
                <a:cs typeface="Calibri" pitchFamily="34" charset="-120"/>
              </a:rPr>
              <a:t>Probability calibration</a:t>
            </a:r>
            <a:endParaRPr lang="en-US" sz="1300" dirty="0"/>
          </a:p>
        </p:txBody>
      </p:sp>
      <p:sp>
        <p:nvSpPr>
          <p:cNvPr id="14" name="Text 12"/>
          <p:cNvSpPr txBox="1"/>
          <p:nvPr/>
        </p:nvSpPr>
        <p:spPr>
          <a:xfrm>
            <a:off x="1005840" y="3557016"/>
            <a:ext cx="356616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Apply Platt scaling or isotonic regression before allocating budget.</a:t>
            </a:r>
            <a:endParaRPr lang="en-US" sz="1050" dirty="0"/>
          </a:p>
        </p:txBody>
      </p:sp>
      <p:sp>
        <p:nvSpPr>
          <p:cNvPr id="15" name="Text 13"/>
          <p:cNvSpPr txBox="1"/>
          <p:nvPr/>
        </p:nvSpPr>
        <p:spPr>
          <a:xfrm>
            <a:off x="457200" y="4114800"/>
            <a:ext cx="384048" cy="384048"/>
          </a:xfrm>
          <a:prstGeom prst="ellipse">
            <a:avLst/>
          </a:prstGeom>
          <a:solidFill>
            <a:srgbClr val="2F78B7"/>
          </a:solid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6" name="Text 14"/>
          <p:cNvSpPr txBox="1"/>
          <p:nvPr/>
        </p:nvSpPr>
        <p:spPr>
          <a:xfrm>
            <a:off x="1005840" y="4023360"/>
            <a:ext cx="3566160" cy="256032"/>
          </a:xfrm>
          <a:prstGeom prst="rect">
            <a:avLst/>
          </a:prstGeom>
          <a:noFill/>
          <a:ln/>
        </p:spPr>
        <p:txBody>
          <a:bodyPr wrap="square" lIns="0" tIns="0" rIns="0" bIns="0" rtlCol="0" anchor="ctr"/>
          <a:lstStyle/>
          <a:p>
            <a:pPr marL="0" indent="0">
              <a:buNone/>
            </a:pPr>
            <a:r>
              <a:rPr lang="en-US" sz="1300" b="1" dirty="0">
                <a:solidFill>
                  <a:srgbClr val="1B2733"/>
                </a:solidFill>
                <a:latin typeface="Calibri" pitchFamily="34" charset="0"/>
                <a:ea typeface="Calibri" pitchFamily="34" charset="-122"/>
                <a:cs typeface="Calibri" pitchFamily="34" charset="-120"/>
              </a:rPr>
              <a:t>A/B test interventions</a:t>
            </a:r>
            <a:endParaRPr lang="en-US" sz="1300" dirty="0"/>
          </a:p>
        </p:txBody>
      </p:sp>
      <p:sp>
        <p:nvSpPr>
          <p:cNvPr id="17" name="Text 15"/>
          <p:cNvSpPr txBox="1"/>
          <p:nvPr/>
        </p:nvSpPr>
        <p:spPr>
          <a:xfrm>
            <a:off x="1005840" y="4288536"/>
            <a:ext cx="3566160" cy="411480"/>
          </a:xfrm>
          <a:prstGeom prst="rect">
            <a:avLst/>
          </a:prstGeom>
          <a:noFill/>
          <a:ln/>
        </p:spPr>
        <p:txBody>
          <a:bodyPr wrap="square" lIns="0" tIns="0" rIns="0" bIns="0" rtlCol="0" anchor="t"/>
          <a:lstStyle/>
          <a:p>
            <a:pPr marL="0" indent="0">
              <a:buNone/>
            </a:pPr>
            <a:r>
              <a:rPr lang="en-US" sz="1050" dirty="0">
                <a:solidFill>
                  <a:srgbClr val="5B6B7B"/>
                </a:solidFill>
                <a:latin typeface="Calibri" pitchFamily="34" charset="0"/>
                <a:ea typeface="Calibri" pitchFamily="34" charset="-122"/>
                <a:cs typeface="Calibri" pitchFamily="34" charset="-120"/>
              </a:rPr>
              <a:t>Confirm that targeting High-Intent sessions actually lifts conversion.</a:t>
            </a:r>
            <a:endParaRPr lang="en-US" sz="1050" dirty="0"/>
          </a:p>
        </p:txBody>
      </p:sp>
      <p:sp>
        <p:nvSpPr>
          <p:cNvPr id="18" name="Shape 16"/>
          <p:cNvSpPr/>
          <p:nvPr/>
        </p:nvSpPr>
        <p:spPr>
          <a:xfrm>
            <a:off x="4846320" y="1097280"/>
            <a:ext cx="3840480" cy="3063240"/>
          </a:xfrm>
          <a:prstGeom prst="roundRect">
            <a:avLst>
              <a:gd name="adj" fmla="val 2388"/>
            </a:avLst>
          </a:prstGeom>
          <a:solidFill>
            <a:srgbClr val="FFFFFF"/>
          </a:solidFill>
          <a:ln w="12700">
            <a:solidFill>
              <a:srgbClr val="FFFFFF"/>
            </a:solidFill>
            <a:prstDash val="solid"/>
          </a:ln>
          <a:effectLst>
            <a:outerShdw blurRad="101600" dist="25400" dir="5400000" algn="bl" rotWithShape="0">
              <a:srgbClr val="000000">
                <a:alpha val="10000"/>
              </a:srgbClr>
            </a:outerShdw>
          </a:effectLst>
        </p:spPr>
        <p:txBody>
          <a:bodyPr/>
          <a:lstStyle/>
          <a:p>
            <a:endParaRPr lang="en-NL"/>
          </a:p>
        </p:txBody>
      </p:sp>
      <p:graphicFrame>
        <p:nvGraphicFramePr>
          <p:cNvPr id="19" name="Chart 0"/>
          <p:cNvGraphicFramePr/>
          <p:nvPr/>
        </p:nvGraphicFramePr>
        <p:xfrm>
          <a:off x="4892040" y="1143000"/>
          <a:ext cx="3749040"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 17"/>
          <p:cNvSpPr txBox="1"/>
          <p:nvPr/>
        </p:nvSpPr>
        <p:spPr>
          <a:xfrm>
            <a:off x="4846320" y="4251960"/>
            <a:ext cx="3840480" cy="548640"/>
          </a:xfrm>
          <a:prstGeom prst="rect">
            <a:avLst/>
          </a:prstGeom>
          <a:noFill/>
          <a:ln/>
        </p:spPr>
        <p:txBody>
          <a:bodyPr wrap="square" lIns="0" tIns="0" rIns="0" bIns="0" rtlCol="0" anchor="t"/>
          <a:lstStyle/>
          <a:p>
            <a:pPr marL="0" indent="0">
              <a:buNone/>
            </a:pPr>
            <a:r>
              <a:rPr lang="en-US" sz="1000" i="1" dirty="0">
                <a:solidFill>
                  <a:srgbClr val="5B6B7B"/>
                </a:solidFill>
                <a:latin typeface="Calibri" pitchFamily="34" charset="0"/>
                <a:ea typeface="Calibri" pitchFamily="34" charset="-122"/>
                <a:cs typeface="Calibri" pitchFamily="34" charset="-120"/>
              </a:rPr>
              <a:t>A 0.35 threshold gave F1 68.5% and recall 73.0%, but it was picked on the test set, so it must be re-validated.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263B"/>
        </a:solidFill>
        <a:effectLst/>
      </p:bgPr>
    </p:bg>
    <p:spTree>
      <p:nvGrpSpPr>
        <p:cNvPr id="1" name=""/>
        <p:cNvGrpSpPr/>
        <p:nvPr/>
      </p:nvGrpSpPr>
      <p:grpSpPr>
        <a:xfrm>
          <a:off x="0" y="0"/>
          <a:ext cx="0" cy="0"/>
          <a:chOff x="0" y="0"/>
          <a:chExt cx="0" cy="0"/>
        </a:xfrm>
      </p:grpSpPr>
      <p:sp>
        <p:nvSpPr>
          <p:cNvPr id="2" name="Text 0"/>
          <p:cNvSpPr txBox="1"/>
          <p:nvPr/>
        </p:nvSpPr>
        <p:spPr>
          <a:xfrm>
            <a:off x="209006" y="3294289"/>
            <a:ext cx="8046720" cy="82296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463731" y="4304211"/>
            <a:ext cx="8046720" cy="457200"/>
          </a:xfrm>
          <a:prstGeom prst="rect">
            <a:avLst/>
          </a:prstGeom>
          <a:noFill/>
          <a:ln/>
        </p:spPr>
        <p:txBody>
          <a:bodyPr wrap="square" lIns="0" tIns="0" rIns="0" bIns="0" rtlCol="0" anchor="ctr"/>
          <a:lstStyle/>
          <a:p>
            <a:pPr marL="0" indent="0">
              <a:buNone/>
            </a:pPr>
            <a:r>
              <a:rPr lang="en-US" sz="2200" i="1" dirty="0">
                <a:solidFill>
                  <a:srgbClr val="F28C28"/>
                </a:solidFill>
                <a:latin typeface="Cambria" pitchFamily="34" charset="0"/>
                <a:ea typeface="Cambria" pitchFamily="34" charset="-122"/>
                <a:cs typeface="Cambria" pitchFamily="34" charset="-120"/>
              </a:rPr>
              <a:t>Questions?</a:t>
            </a:r>
            <a:endParaRPr lang="en-US" sz="2200" dirty="0"/>
          </a:p>
        </p:txBody>
      </p:sp>
      <p:sp>
        <p:nvSpPr>
          <p:cNvPr id="4" name="Shape 2"/>
          <p:cNvSpPr/>
          <p:nvPr/>
        </p:nvSpPr>
        <p:spPr>
          <a:xfrm>
            <a:off x="209006" y="945425"/>
            <a:ext cx="2560320" cy="1737360"/>
          </a:xfrm>
          <a:prstGeom prst="roundRect">
            <a:avLst>
              <a:gd name="adj" fmla="val 5263"/>
            </a:avLst>
          </a:prstGeom>
          <a:solidFill>
            <a:srgbClr val="1B3A57"/>
          </a:solidFill>
          <a:ln w="12700">
            <a:solidFill>
              <a:srgbClr val="1B3A57"/>
            </a:solidFill>
            <a:prstDash val="solid"/>
          </a:ln>
        </p:spPr>
        <p:txBody>
          <a:bodyPr/>
          <a:lstStyle/>
          <a:p>
            <a:endParaRPr lang="en-NL"/>
          </a:p>
        </p:txBody>
      </p:sp>
      <p:sp>
        <p:nvSpPr>
          <p:cNvPr id="5" name="Text 3"/>
          <p:cNvSpPr txBox="1"/>
          <p:nvPr/>
        </p:nvSpPr>
        <p:spPr>
          <a:xfrm>
            <a:off x="346165" y="1108710"/>
            <a:ext cx="2194560" cy="548640"/>
          </a:xfrm>
          <a:prstGeom prst="rect">
            <a:avLst/>
          </a:prstGeom>
          <a:noFill/>
          <a:ln/>
        </p:spPr>
        <p:txBody>
          <a:bodyPr wrap="square" lIns="0" tIns="0" rIns="0" bIns="0" rtlCol="0" anchor="ctr"/>
          <a:lstStyle/>
          <a:p>
            <a:pPr marL="0" indent="0">
              <a:buNone/>
            </a:pPr>
            <a:r>
              <a:rPr lang="en-US" sz="2600" b="1" dirty="0">
                <a:solidFill>
                  <a:srgbClr val="F28C28"/>
                </a:solidFill>
                <a:latin typeface="Cambria" pitchFamily="34" charset="0"/>
                <a:ea typeface="Cambria" pitchFamily="34" charset="-122"/>
                <a:cs typeface="Cambria" pitchFamily="34" charset="-120"/>
              </a:rPr>
              <a:t>0.927</a:t>
            </a:r>
            <a:endParaRPr lang="en-US" sz="2600" dirty="0"/>
          </a:p>
        </p:txBody>
      </p:sp>
      <p:sp>
        <p:nvSpPr>
          <p:cNvPr id="6" name="Text 4"/>
          <p:cNvSpPr txBox="1"/>
          <p:nvPr/>
        </p:nvSpPr>
        <p:spPr>
          <a:xfrm>
            <a:off x="287383" y="1799409"/>
            <a:ext cx="2194560" cy="914400"/>
          </a:xfrm>
          <a:prstGeom prst="rect">
            <a:avLst/>
          </a:prstGeom>
          <a:noFill/>
          <a:ln/>
        </p:spPr>
        <p:txBody>
          <a:bodyPr wrap="square" lIns="0" tIns="0" rIns="0" bIns="0" rtlCol="0" anchor="t"/>
          <a:lstStyle/>
          <a:p>
            <a:pPr marL="0" indent="0">
              <a:buNone/>
            </a:pPr>
            <a:r>
              <a:rPr lang="en-US" sz="1200" dirty="0">
                <a:solidFill>
                  <a:srgbClr val="CADCFC"/>
                </a:solidFill>
                <a:latin typeface="Calibri" pitchFamily="34" charset="0"/>
                <a:ea typeface="Calibri" pitchFamily="34" charset="-122"/>
                <a:cs typeface="Calibri" pitchFamily="34" charset="-120"/>
              </a:rPr>
              <a:t>ROC-AUC and 80% purchaser recall from the final class-weighted XGBoost.</a:t>
            </a:r>
            <a:endParaRPr lang="en-US" sz="1200" dirty="0"/>
          </a:p>
        </p:txBody>
      </p:sp>
      <p:sp>
        <p:nvSpPr>
          <p:cNvPr id="7" name="Shape 5"/>
          <p:cNvSpPr/>
          <p:nvPr/>
        </p:nvSpPr>
        <p:spPr>
          <a:xfrm>
            <a:off x="3108961" y="1271180"/>
            <a:ext cx="2560320" cy="1737360"/>
          </a:xfrm>
          <a:prstGeom prst="roundRect">
            <a:avLst>
              <a:gd name="adj" fmla="val 5263"/>
            </a:avLst>
          </a:prstGeom>
          <a:solidFill>
            <a:srgbClr val="1B3A57"/>
          </a:solidFill>
          <a:ln w="12700">
            <a:solidFill>
              <a:srgbClr val="1B3A57"/>
            </a:solidFill>
            <a:prstDash val="solid"/>
          </a:ln>
        </p:spPr>
        <p:txBody>
          <a:bodyPr/>
          <a:lstStyle/>
          <a:p>
            <a:endParaRPr lang="en-NL"/>
          </a:p>
        </p:txBody>
      </p:sp>
      <p:sp>
        <p:nvSpPr>
          <p:cNvPr id="8" name="Text 6"/>
          <p:cNvSpPr txBox="1"/>
          <p:nvPr/>
        </p:nvSpPr>
        <p:spPr>
          <a:xfrm>
            <a:off x="3389811" y="1474470"/>
            <a:ext cx="2194560" cy="548640"/>
          </a:xfrm>
          <a:prstGeom prst="rect">
            <a:avLst/>
          </a:prstGeom>
          <a:noFill/>
          <a:ln/>
        </p:spPr>
        <p:txBody>
          <a:bodyPr wrap="square" lIns="0" tIns="0" rIns="0" bIns="0" rtlCol="0" anchor="ctr"/>
          <a:lstStyle/>
          <a:p>
            <a:pPr marL="0" indent="0">
              <a:buNone/>
            </a:pPr>
            <a:r>
              <a:rPr lang="en-US" sz="2600" b="1" dirty="0">
                <a:solidFill>
                  <a:srgbClr val="F28C28"/>
                </a:solidFill>
                <a:latin typeface="Cambria" pitchFamily="34" charset="0"/>
                <a:ea typeface="Cambria" pitchFamily="34" charset="-122"/>
                <a:cs typeface="Cambria" pitchFamily="34" charset="-120"/>
              </a:rPr>
              <a:t>PageValues</a:t>
            </a:r>
            <a:endParaRPr lang="en-US" sz="2600" dirty="0"/>
          </a:p>
        </p:txBody>
      </p:sp>
      <p:sp>
        <p:nvSpPr>
          <p:cNvPr id="9" name="Text 7"/>
          <p:cNvSpPr txBox="1"/>
          <p:nvPr/>
        </p:nvSpPr>
        <p:spPr>
          <a:xfrm>
            <a:off x="3389811" y="2032907"/>
            <a:ext cx="2194560" cy="914400"/>
          </a:xfrm>
          <a:prstGeom prst="rect">
            <a:avLst/>
          </a:prstGeom>
          <a:noFill/>
          <a:ln/>
        </p:spPr>
        <p:txBody>
          <a:bodyPr wrap="square" lIns="0" tIns="0" rIns="0" bIns="0" rtlCol="0" anchor="t"/>
          <a:lstStyle/>
          <a:p>
            <a:pPr marL="0" indent="0">
              <a:buNone/>
            </a:pPr>
            <a:r>
              <a:rPr lang="en-US" sz="1200" dirty="0">
                <a:solidFill>
                  <a:srgbClr val="CADCFC"/>
                </a:solidFill>
                <a:latin typeface="Calibri" pitchFamily="34" charset="0"/>
                <a:ea typeface="Calibri" pitchFamily="34" charset="-122"/>
                <a:cs typeface="Calibri" pitchFamily="34" charset="-120"/>
              </a:rPr>
              <a:t>is the strongest driver, followed by seasonality (especially November).</a:t>
            </a:r>
            <a:endParaRPr lang="en-US" sz="1200" dirty="0"/>
          </a:p>
        </p:txBody>
      </p:sp>
      <p:sp>
        <p:nvSpPr>
          <p:cNvPr id="10" name="Shape 8"/>
          <p:cNvSpPr/>
          <p:nvPr/>
        </p:nvSpPr>
        <p:spPr>
          <a:xfrm>
            <a:off x="6035040" y="1525905"/>
            <a:ext cx="2560320" cy="1737360"/>
          </a:xfrm>
          <a:prstGeom prst="roundRect">
            <a:avLst>
              <a:gd name="adj" fmla="val 5263"/>
            </a:avLst>
          </a:prstGeom>
          <a:solidFill>
            <a:srgbClr val="1B3A57"/>
          </a:solidFill>
          <a:ln w="12700">
            <a:solidFill>
              <a:srgbClr val="1B3A57"/>
            </a:solidFill>
            <a:prstDash val="solid"/>
          </a:ln>
        </p:spPr>
        <p:txBody>
          <a:bodyPr/>
          <a:lstStyle/>
          <a:p>
            <a:endParaRPr lang="en-NL"/>
          </a:p>
        </p:txBody>
      </p:sp>
      <p:sp>
        <p:nvSpPr>
          <p:cNvPr id="11" name="Text 9"/>
          <p:cNvSpPr txBox="1"/>
          <p:nvPr/>
        </p:nvSpPr>
        <p:spPr>
          <a:xfrm>
            <a:off x="6126480" y="1498146"/>
            <a:ext cx="2194560" cy="548640"/>
          </a:xfrm>
          <a:prstGeom prst="rect">
            <a:avLst/>
          </a:prstGeom>
          <a:noFill/>
          <a:ln/>
        </p:spPr>
        <p:txBody>
          <a:bodyPr wrap="square" lIns="0" tIns="0" rIns="0" bIns="0" rtlCol="0" anchor="ctr"/>
          <a:lstStyle/>
          <a:p>
            <a:pPr marL="0" indent="0">
              <a:buNone/>
            </a:pPr>
            <a:r>
              <a:rPr lang="en-US" sz="2600" b="1" dirty="0">
                <a:solidFill>
                  <a:srgbClr val="F28C28"/>
                </a:solidFill>
                <a:latin typeface="Cambria" pitchFamily="34" charset="0"/>
                <a:ea typeface="Cambria" pitchFamily="34" charset="-122"/>
                <a:cs typeface="Cambria" pitchFamily="34" charset="-120"/>
              </a:rPr>
              <a:t>65.87%</a:t>
            </a:r>
            <a:endParaRPr lang="en-US" sz="2600" dirty="0"/>
          </a:p>
        </p:txBody>
      </p:sp>
      <p:sp>
        <p:nvSpPr>
          <p:cNvPr id="12" name="Text 10"/>
          <p:cNvSpPr txBox="1"/>
          <p:nvPr/>
        </p:nvSpPr>
        <p:spPr>
          <a:xfrm>
            <a:off x="6172200" y="2115366"/>
            <a:ext cx="2194560" cy="914400"/>
          </a:xfrm>
          <a:prstGeom prst="rect">
            <a:avLst/>
          </a:prstGeom>
          <a:noFill/>
          <a:ln/>
        </p:spPr>
        <p:txBody>
          <a:bodyPr wrap="square" lIns="0" tIns="0" rIns="0" bIns="0" rtlCol="0" anchor="t"/>
          <a:lstStyle/>
          <a:p>
            <a:pPr marL="0" indent="0">
              <a:buNone/>
            </a:pPr>
            <a:r>
              <a:rPr lang="en-US" sz="1200" dirty="0">
                <a:solidFill>
                  <a:srgbClr val="CADCFC"/>
                </a:solidFill>
                <a:latin typeface="Calibri" pitchFamily="34" charset="0"/>
                <a:ea typeface="Calibri" pitchFamily="34" charset="-122"/>
                <a:cs typeface="Calibri" pitchFamily="34" charset="-120"/>
              </a:rPr>
              <a:t>purchase rate in High-Intent sessions vs 15.65% overall.</a:t>
            </a:r>
            <a:endParaRPr lang="en-US" sz="1200" dirty="0"/>
          </a:p>
        </p:txBody>
      </p:sp>
      <p:sp>
        <p:nvSpPr>
          <p:cNvPr id="13" name="Text 11"/>
          <p:cNvSpPr txBox="1"/>
          <p:nvPr/>
        </p:nvSpPr>
        <p:spPr>
          <a:xfrm>
            <a:off x="470263" y="519249"/>
            <a:ext cx="3657600" cy="274320"/>
          </a:xfrm>
          <a:prstGeom prst="rect">
            <a:avLst/>
          </a:prstGeom>
          <a:noFill/>
          <a:ln/>
        </p:spPr>
        <p:txBody>
          <a:bodyPr wrap="square" lIns="0" tIns="0" rIns="0" bIns="0" rtlCol="0" anchor="ctr"/>
          <a:lstStyle/>
          <a:p>
            <a:pPr marL="0" indent="0">
              <a:buNone/>
            </a:pPr>
            <a:r>
              <a:rPr lang="en-US" sz="1100" b="1" kern="0" spc="300" dirty="0">
                <a:solidFill>
                  <a:srgbClr val="CADCFC"/>
                </a:solidFill>
                <a:latin typeface="Calibri" pitchFamily="34" charset="0"/>
                <a:ea typeface="Calibri" pitchFamily="34" charset="-122"/>
                <a:cs typeface="Calibri" pitchFamily="34" charset="-120"/>
              </a:rPr>
              <a:t>Conclusion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684</TotalTime>
  <Words>2391</Words>
  <Application>Microsoft Office PowerPoint</Application>
  <PresentationFormat>On-screen Show (16:9)</PresentationFormat>
  <Paragraphs>225</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Online Purchase Intention</dc:title>
  <dc:subject>PptxGenJS Presentation</dc:subject>
  <dc:creator>PptxGenJS</dc:creator>
  <cp:lastModifiedBy>Shirley Amponsah</cp:lastModifiedBy>
  <cp:revision>4</cp:revision>
  <dcterms:created xsi:type="dcterms:W3CDTF">2026-09-18T18:24:47Z</dcterms:created>
  <dcterms:modified xsi:type="dcterms:W3CDTF">2026-09-19T07:02:33Z</dcterms:modified>
</cp:coreProperties>
</file>